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51"/>
  </p:notesMasterIdLst>
  <p:handoutMasterIdLst>
    <p:handoutMasterId r:id="rId52"/>
  </p:handoutMasterIdLst>
  <p:sldIdLst>
    <p:sldId id="256" r:id="rId2"/>
    <p:sldId id="1232" r:id="rId3"/>
    <p:sldId id="1233" r:id="rId4"/>
    <p:sldId id="1230" r:id="rId5"/>
    <p:sldId id="274" r:id="rId6"/>
    <p:sldId id="276" r:id="rId7"/>
    <p:sldId id="1235" r:id="rId8"/>
    <p:sldId id="277" r:id="rId9"/>
    <p:sldId id="1236" r:id="rId10"/>
    <p:sldId id="278" r:id="rId11"/>
    <p:sldId id="1234" r:id="rId12"/>
    <p:sldId id="279" r:id="rId13"/>
    <p:sldId id="280" r:id="rId14"/>
    <p:sldId id="275" r:id="rId15"/>
    <p:sldId id="1240" r:id="rId16"/>
    <p:sldId id="298" r:id="rId17"/>
    <p:sldId id="299" r:id="rId18"/>
    <p:sldId id="323" r:id="rId19"/>
    <p:sldId id="300" r:id="rId20"/>
    <p:sldId id="324" r:id="rId21"/>
    <p:sldId id="1241" r:id="rId22"/>
    <p:sldId id="325" r:id="rId23"/>
    <p:sldId id="1242" r:id="rId24"/>
    <p:sldId id="269" r:id="rId25"/>
    <p:sldId id="1238" r:id="rId26"/>
    <p:sldId id="1243" r:id="rId27"/>
    <p:sldId id="1244" r:id="rId28"/>
    <p:sldId id="1245" r:id="rId29"/>
    <p:sldId id="1246" r:id="rId30"/>
    <p:sldId id="1260" r:id="rId31"/>
    <p:sldId id="1261" r:id="rId32"/>
    <p:sldId id="1247" r:id="rId33"/>
    <p:sldId id="1248" r:id="rId34"/>
    <p:sldId id="1249" r:id="rId35"/>
    <p:sldId id="1250" r:id="rId36"/>
    <p:sldId id="1251" r:id="rId37"/>
    <p:sldId id="1252" r:id="rId38"/>
    <p:sldId id="1253" r:id="rId39"/>
    <p:sldId id="1255" r:id="rId40"/>
    <p:sldId id="1254" r:id="rId41"/>
    <p:sldId id="305" r:id="rId42"/>
    <p:sldId id="1257" r:id="rId43"/>
    <p:sldId id="1256" r:id="rId44"/>
    <p:sldId id="1258" r:id="rId45"/>
    <p:sldId id="306" r:id="rId46"/>
    <p:sldId id="1259" r:id="rId47"/>
    <p:sldId id="1263" r:id="rId48"/>
    <p:sldId id="1264" r:id="rId49"/>
    <p:sldId id="1262" r:id="rId50"/>
  </p:sldIdLst>
  <p:sldSz cx="12192000" cy="6858000"/>
  <p:notesSz cx="6858000" cy="9144000"/>
  <p:custDataLst>
    <p:tags r:id="rId53"/>
  </p:custDataLst>
  <p:defaultTextStyle>
    <a:defPPr>
      <a:defRPr lang="nl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BAEFD49-6523-0809-E41F-E9360D32733C}" name="Jochen Mariën" initials="JM" userId="Jochen Mariën" providerId="None"/>
  <p188:author id="{56006A5D-2BC8-644D-AE5E-6AFA2A293A8E}" name="Ellen Torfs" initials="ET" userId="S::u0068049@thomasmore.be::c6aa1e10-4a12-4511-8c7c-135720d4f27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6785"/>
    <a:srgbClr val="4584B6"/>
    <a:srgbClr val="FFDE57"/>
    <a:srgbClr val="646464"/>
    <a:srgbClr val="CC00FF"/>
    <a:srgbClr val="D5AD42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69C3D16-A691-4441-8154-A30B959950D5}" v="2" dt="2023-12-04T10:22:03.33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Stijl, gemiddeld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DF18680-E054-41AD-8BC1-D1AEF772440D}" styleName="Stijl, gemiddeld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B4B98B0-60AC-42C2-AFA5-B58CD77FA1E5}" styleName="Stijl, licht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Stijl, licht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6247" autoAdjust="0"/>
  </p:normalViewPr>
  <p:slideViewPr>
    <p:cSldViewPr snapToGrid="0">
      <p:cViewPr varScale="1">
        <p:scale>
          <a:sx n="106" d="100"/>
          <a:sy n="106" d="100"/>
        </p:scale>
        <p:origin x="792" y="120"/>
      </p:cViewPr>
      <p:guideLst/>
    </p:cSldViewPr>
  </p:slideViewPr>
  <p:outlineViewPr>
    <p:cViewPr>
      <p:scale>
        <a:sx n="33" d="100"/>
        <a:sy n="33" d="100"/>
      </p:scale>
      <p:origin x="0" y="-435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gs" Target="tags/tag1.xml"/><Relationship Id="rId58" Type="http://schemas.microsoft.com/office/2015/10/relationships/revisionInfo" Target="revisionInfo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microsoft.com/office/2018/10/relationships/authors" Target="author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>
            <a:extLst>
              <a:ext uri="{FF2B5EF4-FFF2-40B4-BE49-F238E27FC236}">
                <a16:creationId xmlns:a16="http://schemas.microsoft.com/office/drawing/2014/main" id="{CF443226-E9FA-4009-BBB5-4E5E237B044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09910BF9-BC8A-4B24-9330-67EAC1E9747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E4F5CE-CB34-4A0C-9595-867A2C0DB20E}" type="datetimeFigureOut">
              <a:rPr lang="nl-BE" smtClean="0"/>
              <a:t>4/06/2026</a:t>
            </a:fld>
            <a:endParaRPr lang="nl-BE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DD8A7516-5705-4629-A699-3DF8CFBEECA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24C8A117-749A-4619-8630-3F24E93BDE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CABF38-3E8C-439D-9643-BC9C6AAC1984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9876697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53584B-980D-4F7D-BA36-682FCDF648BB}" type="datetimeFigureOut">
              <a:rPr lang="nl-BE" smtClean="0"/>
              <a:t>4/06/2026</a:t>
            </a:fld>
            <a:endParaRPr lang="nl-BE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BE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1A7F70-BA74-4B93-A504-6802F0D0CD34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1721904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A7F70-BA74-4B93-A504-6802F0D0CD34}" type="slidenum">
              <a:rPr lang="nl-BE" smtClean="0"/>
              <a:t>1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0815865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https://thelead.io/data-science/5-steps-to-a-data-science-project-lifecycle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A7F70-BA74-4B93-A504-6802F0D0CD34}" type="slidenum">
              <a:rPr lang="nl-BE" smtClean="0"/>
              <a:t>5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1010304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A7F70-BA74-4B93-A504-6802F0D0CD34}" type="slidenum">
              <a:rPr lang="nl-BE" smtClean="0"/>
              <a:t>7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7355401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A7F70-BA74-4B93-A504-6802F0D0CD34}" type="slidenum">
              <a:rPr lang="nl-BE" smtClean="0"/>
              <a:t>14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7940222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A7F70-BA74-4B93-A504-6802F0D0CD34}" type="slidenum">
              <a:rPr lang="nl-BE" smtClean="0"/>
              <a:t>18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6408721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ED9555-764A-4B78-873A-3D7406AAEA2B}" type="slidenum">
              <a:rPr lang="nl-BE" smtClean="0"/>
              <a:pPr/>
              <a:t>19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3551385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ED9555-764A-4B78-873A-3D7406AAEA2B}" type="slidenum">
              <a:rPr lang="nl-BE" smtClean="0"/>
              <a:pPr/>
              <a:t>21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7882655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ED9555-764A-4B78-873A-3D7406AAEA2B}" type="slidenum">
              <a:rPr lang="nl-BE" smtClean="0"/>
              <a:pPr/>
              <a:t>23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019705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BDE10F-256B-47AC-88AD-900EFF8F80F1}" type="slidenum">
              <a:rPr lang="en-BE" smtClean="0"/>
              <a:t>24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7858886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titanic: delete the 1 row without a fare, and the column “cabin”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A7F70-BA74-4B93-A504-6802F0D0CD34}" type="slidenum">
              <a:rPr lang="nl-BE" smtClean="0"/>
              <a:t>36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982645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https://en.wikipedia.org/wiki/Survivorship_bias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BE" b="0" u="sng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https://www.youtube.com/watch?v=P9WFpVsRtQg</a:t>
            </a:r>
            <a:endParaRPr lang="nl-BE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A7F70-BA74-4B93-A504-6802F0D0CD34}" type="slidenum">
              <a:rPr lang="nl-BE" smtClean="0"/>
              <a:t>39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29858999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A7F70-BA74-4B93-A504-6802F0D0CD34}" type="slidenum">
              <a:rPr lang="nl-BE" smtClean="0"/>
              <a:t>40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9075236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2626659" y="3433481"/>
            <a:ext cx="9144000" cy="890839"/>
          </a:xfrm>
        </p:spPr>
        <p:txBody>
          <a:bodyPr anchor="b">
            <a:normAutofit/>
          </a:bodyPr>
          <a:lstStyle>
            <a:lvl1pPr algn="r">
              <a:defRPr lang="nl-BE" sz="4400" kern="1200" dirty="0">
                <a:solidFill>
                  <a:srgbClr val="4584B6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2626659" y="4690378"/>
            <a:ext cx="9144000" cy="698557"/>
          </a:xfrm>
        </p:spPr>
        <p:txBody>
          <a:bodyPr>
            <a:normAutofit/>
          </a:bodyPr>
          <a:lstStyle>
            <a:lvl1pPr marL="0" indent="0" algn="r">
              <a:buNone/>
              <a:defRPr lang="nl-BE" sz="3200" kern="1200" dirty="0">
                <a:solidFill>
                  <a:srgbClr val="FFDE57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 om de ondertitelstijl van het model te bewerken</a:t>
            </a:r>
            <a:endParaRPr lang="nl-BE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6E141-11F1-487F-A892-18B8A63336C7}" type="datetime1">
              <a:rPr lang="nl-BE" smtClean="0"/>
              <a:t>4/06/2026</a:t>
            </a:fld>
            <a:endParaRPr lang="nl-B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  <p:sp>
        <p:nvSpPr>
          <p:cNvPr id="9" name="Rechthoek 8"/>
          <p:cNvSpPr/>
          <p:nvPr userDrawn="1"/>
        </p:nvSpPr>
        <p:spPr>
          <a:xfrm>
            <a:off x="10502153" y="0"/>
            <a:ext cx="1559859" cy="12196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pic>
        <p:nvPicPr>
          <p:cNvPr id="11" name="Afbeelding 9">
            <a:extLst>
              <a:ext uri="{FF2B5EF4-FFF2-40B4-BE49-F238E27FC236}">
                <a16:creationId xmlns:a16="http://schemas.microsoft.com/office/drawing/2014/main" id="{FBAF35B5-7E2F-489C-AA38-83D52B9A7B5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334" t="17522" r="3803" b="23654"/>
          <a:stretch/>
        </p:blipFill>
        <p:spPr>
          <a:xfrm>
            <a:off x="582705" y="1832120"/>
            <a:ext cx="1461245" cy="113518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D350454-2D85-403C-B5B4-870BA60949E0}"/>
              </a:ext>
            </a:extLst>
          </p:cNvPr>
          <p:cNvSpPr txBox="1"/>
          <p:nvPr userDrawn="1"/>
        </p:nvSpPr>
        <p:spPr>
          <a:xfrm>
            <a:off x="1836761" y="1938046"/>
            <a:ext cx="80443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nl-BE" sz="5400" b="0">
                <a:solidFill>
                  <a:schemeClr val="bg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Data </a:t>
            </a:r>
            <a:r>
              <a:rPr lang="nl-BE" sz="5400" b="0" err="1">
                <a:solidFill>
                  <a:schemeClr val="bg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science</a:t>
            </a:r>
            <a:endParaRPr lang="nl-BE" sz="5400" b="0">
              <a:solidFill>
                <a:schemeClr val="bg2">
                  <a:lumMod val="5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1203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rgbClr val="4584B6"/>
              </a:buClr>
              <a:defRPr/>
            </a:lvl1pPr>
            <a:lvl2pPr>
              <a:buClr>
                <a:srgbClr val="FFDE57"/>
              </a:buClr>
              <a:defRPr sz="2600"/>
            </a:lvl2pPr>
            <a:lvl3pPr>
              <a:defRPr sz="2400"/>
            </a:lvl3pPr>
            <a:lvl4pPr>
              <a:defRPr sz="2200"/>
            </a:lvl4pPr>
            <a:lvl5pPr>
              <a:defRPr sz="2000"/>
            </a:lvl5pPr>
          </a:lstStyle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A89A6-C9B9-4556-BC9E-5E3CF3322A33}" type="datetime1">
              <a:rPr lang="nl-BE" smtClean="0"/>
              <a:t>4/06/2026</a:t>
            </a:fld>
            <a:endParaRPr lang="nl-B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E1B3154-47D9-4402-8EDB-E791933DC0B9}" type="slidenum">
              <a:rPr lang="nl-BE" smtClean="0"/>
              <a:pPr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6989068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B42D4-4FBB-465F-AE58-8ADBDBF671C8}" type="datetime1">
              <a:rPr lang="nl-BE" smtClean="0"/>
              <a:t>4/06/2026</a:t>
            </a:fld>
            <a:endParaRPr lang="nl-B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7278284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inhoud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405D5-C0FD-42E0-9EB1-2670F471B7BB}" type="datetime1">
              <a:rPr lang="nl-BE" smtClean="0"/>
              <a:t>4/06/2026</a:t>
            </a:fld>
            <a:endParaRPr lang="nl-B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4646790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6" name="Tijdelijke aanduiding voor inhoud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55C39-C031-448F-A58F-CA88F7B6F786}" type="datetime1">
              <a:rPr lang="nl-BE" smtClean="0"/>
              <a:t>4/06/2026</a:t>
            </a:fld>
            <a:endParaRPr lang="nl-BE"/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0509857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307F5-1DF0-4FFF-91A4-1E1A6A26A94A}" type="datetime1">
              <a:rPr lang="nl-BE" smtClean="0"/>
              <a:t>4/06/2026</a:t>
            </a:fld>
            <a:endParaRPr lang="nl-BE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5514924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9168B-A159-4E9D-A6C6-C6786C6AB2EB}" type="datetime1">
              <a:rPr lang="nl-BE" smtClean="0"/>
              <a:t>4/06/2026</a:t>
            </a:fld>
            <a:endParaRPr lang="nl-BE"/>
          </a:p>
        </p:txBody>
      </p:sp>
      <p:sp>
        <p:nvSpPr>
          <p:cNvPr id="3" name="Tijdelijke aanduiding voor voettekst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8751777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22159-AF82-4D23-BC06-D4277BDD9BAD}" type="datetime1">
              <a:rPr lang="nl-BE" smtClean="0"/>
              <a:t>4/06/2026</a:t>
            </a:fld>
            <a:endParaRPr lang="nl-B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3845905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afbeelding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BE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A7014-C292-4E4F-926C-1A31F538B52A}" type="datetime1">
              <a:rPr lang="nl-BE" smtClean="0"/>
              <a:t>4/06/2026</a:t>
            </a:fld>
            <a:endParaRPr lang="nl-B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867578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AFD92-94F2-4CD0-8A1D-AA3295115CEC}" type="datetime1">
              <a:rPr lang="nl-BE" smtClean="0"/>
              <a:t>4/06/2026</a:t>
            </a:fld>
            <a:endParaRPr lang="nl-B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4234140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84EFA-B363-4043-A12E-44B39EC7D05B}" type="datetime1">
              <a:rPr lang="nl-BE" smtClean="0"/>
              <a:t>4/06/2026</a:t>
            </a:fld>
            <a:endParaRPr lang="nl-B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0468295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582706" y="365125"/>
            <a:ext cx="10771094" cy="9200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82705" y="1550894"/>
            <a:ext cx="11291048" cy="46260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582705" y="6356350"/>
            <a:ext cx="13536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7161-F687-474C-905A-3CCBBA535086}" type="datetime1">
              <a:rPr lang="nl-BE" smtClean="0"/>
              <a:t>4/06/2026</a:t>
            </a:fld>
            <a:endParaRPr lang="nl-B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2384611" y="6356350"/>
            <a:ext cx="64366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B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913055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  <p:sp>
        <p:nvSpPr>
          <p:cNvPr id="7" name="Rechthoek 6"/>
          <p:cNvSpPr/>
          <p:nvPr userDrawn="1"/>
        </p:nvSpPr>
        <p:spPr>
          <a:xfrm rot="5400000">
            <a:off x="6145210" y="-4660629"/>
            <a:ext cx="72000" cy="12021580"/>
          </a:xfrm>
          <a:prstGeom prst="rect">
            <a:avLst/>
          </a:prstGeom>
          <a:solidFill>
            <a:srgbClr val="4584B6"/>
          </a:solidFill>
          <a:ln>
            <a:solidFill>
              <a:srgbClr val="4584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8" name="Rechthoek 7">
            <a:extLst>
              <a:ext uri="{FF2B5EF4-FFF2-40B4-BE49-F238E27FC236}">
                <a16:creationId xmlns:a16="http://schemas.microsoft.com/office/drawing/2014/main" id="{07FE2247-7A25-44B0-854B-AE1E11CA90FA}"/>
              </a:ext>
            </a:extLst>
          </p:cNvPr>
          <p:cNvSpPr/>
          <p:nvPr userDrawn="1"/>
        </p:nvSpPr>
        <p:spPr>
          <a:xfrm>
            <a:off x="105303" y="-171400"/>
            <a:ext cx="72000" cy="7200800"/>
          </a:xfrm>
          <a:prstGeom prst="rect">
            <a:avLst/>
          </a:prstGeom>
          <a:solidFill>
            <a:srgbClr val="4584B6"/>
          </a:solidFill>
          <a:ln>
            <a:solidFill>
              <a:srgbClr val="4584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9" name="Rechthoek 8"/>
          <p:cNvSpPr/>
          <p:nvPr userDrawn="1"/>
        </p:nvSpPr>
        <p:spPr>
          <a:xfrm>
            <a:off x="185989" y="-171400"/>
            <a:ext cx="72000" cy="7200800"/>
          </a:xfrm>
          <a:prstGeom prst="rect">
            <a:avLst/>
          </a:prstGeom>
          <a:solidFill>
            <a:srgbClr val="FFDE57"/>
          </a:solidFill>
          <a:ln>
            <a:solidFill>
              <a:srgbClr val="FFDE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pic>
        <p:nvPicPr>
          <p:cNvPr id="10" name="Afbeelding 9">
            <a:extLst>
              <a:ext uri="{FF2B5EF4-FFF2-40B4-BE49-F238E27FC236}">
                <a16:creationId xmlns:a16="http://schemas.microsoft.com/office/drawing/2014/main" id="{9D656C7A-8563-4AB3-B098-D72F316041E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334" t="17522" r="3803" b="23654"/>
          <a:stretch/>
        </p:blipFill>
        <p:spPr>
          <a:xfrm>
            <a:off x="10650071" y="110811"/>
            <a:ext cx="1461245" cy="1135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9523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646464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4584B6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FFDE57"/>
        </a:buClr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646464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docs.python.org/3/library/datetime.html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seaborn.pydata.org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3js.org/" TargetMode="Externa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hyperlink" Target="https://scikit-learn.org/stable/modules/generated/sklearn.impute.SimpleImputer.html" TargetMode="Externa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Chapter 7 – Data augmentation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9A9870-319B-6003-8D26-9A906BE72FC8}"/>
              </a:ext>
            </a:extLst>
          </p:cNvPr>
          <p:cNvSpPr txBox="1"/>
          <p:nvPr/>
        </p:nvSpPr>
        <p:spPr>
          <a:xfrm>
            <a:off x="1920240" y="2023110"/>
            <a:ext cx="5772150" cy="70788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tx1">
                    <a:lumMod val="65000"/>
                    <a:lumOff val="35000"/>
                  </a:schemeClr>
                </a:solidFill>
                <a:latin typeface="Amasis MT Pro Medium" panose="02040604050005020304" pitchFamily="18" charset="0"/>
              </a:rPr>
              <a:t>Artificial Intelligence</a:t>
            </a:r>
            <a:endParaRPr lang="en-BE" sz="4000" dirty="0">
              <a:solidFill>
                <a:schemeClr val="tx1">
                  <a:lumMod val="65000"/>
                  <a:lumOff val="35000"/>
                </a:schemeClr>
              </a:solidFill>
              <a:latin typeface="Amasis MT Pro Medium" panose="020406040500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3345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4008B-BD0A-603C-FB2D-8FB21F8FA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science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06850F-5109-F7D0-E9AF-EFC8F9AB2B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course is the second in a row of three: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B1F555-1B00-BAD3-8021-E7709A4E2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2</a:t>
            </a:fld>
            <a:endParaRPr lang="nl-BE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4A635C5-5B2D-3CDE-1EE8-9B92635632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565" y="1984913"/>
            <a:ext cx="9345329" cy="279121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F783DFF-0C46-5524-0B81-1643C484B6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227" y="2865896"/>
            <a:ext cx="9364382" cy="276263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777A2E1-96FB-0699-804A-4440198D26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5812" y="3752417"/>
            <a:ext cx="9392961" cy="3105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148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DE4B8E-8F09-FDEB-9290-B7C80BED4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science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46DA47-16F5-3A51-5081-3C0D02FEC9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705" y="1550894"/>
            <a:ext cx="7215380" cy="462606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You can’t do machine learning without doing data science first</a:t>
            </a:r>
          </a:p>
          <a:p>
            <a:r>
              <a:rPr lang="en-US" dirty="0"/>
              <a:t>Data science means wrangling your data into a form you can use it in</a:t>
            </a:r>
          </a:p>
          <a:p>
            <a:r>
              <a:rPr lang="en-US" dirty="0"/>
              <a:t>Because any real data will never be useable in its raw form, you’ll need to clean it up, cut of the bad parts, …</a:t>
            </a:r>
          </a:p>
          <a:p>
            <a:r>
              <a:rPr lang="en-US" dirty="0"/>
              <a:t>In a way, machine learning is part of data science, because a good model can help you understand your data</a:t>
            </a:r>
          </a:p>
          <a:p>
            <a:pPr lvl="1"/>
            <a:r>
              <a:rPr lang="en-US" dirty="0"/>
              <a:t>Like what we did with the diamonds earlier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FF2667-B01D-26F1-CF8D-ADAC1A515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3</a:t>
            </a:fld>
            <a:endParaRPr lang="nl-BE"/>
          </a:p>
        </p:txBody>
      </p:sp>
      <p:pic>
        <p:nvPicPr>
          <p:cNvPr id="5" name="Picture 4" descr="A picture containing sitting, device&#10;&#10;Description automatically generated">
            <a:extLst>
              <a:ext uri="{FF2B5EF4-FFF2-40B4-BE49-F238E27FC236}">
                <a16:creationId xmlns:a16="http://schemas.microsoft.com/office/drawing/2014/main" id="{0116A085-F6C1-F8A1-BB20-16B45D9CC9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7544" y="1904983"/>
            <a:ext cx="4104456" cy="3917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0091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244CC-BC40-202A-D60B-C8EAD0553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overlap</a:t>
            </a:r>
          </a:p>
        </p:txBody>
      </p:sp>
      <p:pic>
        <p:nvPicPr>
          <p:cNvPr id="6" name="Content Placeholder 5" descr="A diagram of machine learning&#10;&#10;AI-generated content may be incorrect.">
            <a:extLst>
              <a:ext uri="{FF2B5EF4-FFF2-40B4-BE49-F238E27FC236}">
                <a16:creationId xmlns:a16="http://schemas.microsoft.com/office/drawing/2014/main" id="{33420DEB-726E-13BD-4F23-797EBDD8ED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9208" y="1576441"/>
            <a:ext cx="9133584" cy="4779909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C3CEEA-B72D-F4A8-6D3F-FA10C9DA2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4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9045086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D1C2C-A01C-42C8-A200-FC046EDE2A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/>
              <a:t>The data </a:t>
            </a:r>
            <a:r>
              <a:rPr lang="nl-BE" err="1"/>
              <a:t>science</a:t>
            </a:r>
            <a:r>
              <a:rPr lang="nl-BE"/>
              <a:t> </a:t>
            </a:r>
            <a:r>
              <a:rPr lang="nl-BE" err="1"/>
              <a:t>process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2C2BA6-0B26-4BC7-AE00-862F56D57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5</a:t>
            </a:fld>
            <a:endParaRPr lang="nl-BE"/>
          </a:p>
        </p:txBody>
      </p:sp>
      <p:pic>
        <p:nvPicPr>
          <p:cNvPr id="1028" name="Picture 4" descr="What is the Data Science Life Cycle? | Everything you need to know">
            <a:extLst>
              <a:ext uri="{FF2B5EF4-FFF2-40B4-BE49-F238E27FC236}">
                <a16:creationId xmlns:a16="http://schemas.microsoft.com/office/drawing/2014/main" id="{A6C08AD5-5648-4DBC-96A3-DB40125A2F1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779"/>
          <a:stretch/>
        </p:blipFill>
        <p:spPr bwMode="auto">
          <a:xfrm>
            <a:off x="2409878" y="2942249"/>
            <a:ext cx="7372243" cy="3660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75FD463-42B9-DE14-92FA-8B0D8FD5F927}"/>
              </a:ext>
            </a:extLst>
          </p:cNvPr>
          <p:cNvSpPr txBox="1"/>
          <p:nvPr/>
        </p:nvSpPr>
        <p:spPr>
          <a:xfrm>
            <a:off x="582705" y="1668806"/>
            <a:ext cx="1148511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The data science life cycle involves various roles, tools, and processes, which enables analysts to gain actionable insights. Typically, a data science project undergoes the following stages: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063097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D45CC-4DC4-4C42-A88E-2E800E173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1: Obtain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3D1C2B-F02C-4C36-85BB-402AA963AD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Query databases</a:t>
            </a:r>
          </a:p>
          <a:p>
            <a:r>
              <a:rPr lang="en-US"/>
              <a:t>Read Excel-files</a:t>
            </a:r>
          </a:p>
          <a:p>
            <a:r>
              <a:rPr lang="en-US"/>
              <a:t>Call API’s</a:t>
            </a:r>
          </a:p>
          <a:p>
            <a:r>
              <a:rPr lang="en-US"/>
              <a:t>Read CSV’s</a:t>
            </a:r>
          </a:p>
          <a:p>
            <a:r>
              <a:rPr lang="en-US"/>
              <a:t>…</a:t>
            </a:r>
          </a:p>
          <a:p>
            <a:endParaRPr lang="en-US"/>
          </a:p>
          <a:p>
            <a:r>
              <a:rPr lang="en-US"/>
              <a:t>Get and combine the data from anywhere you can</a:t>
            </a:r>
          </a:p>
          <a:p>
            <a:r>
              <a:rPr lang="en-US"/>
              <a:t>But: only use properly governed data</a:t>
            </a:r>
          </a:p>
          <a:p>
            <a:pPr lvl="1"/>
            <a:r>
              <a:rPr lang="en-US"/>
              <a:t>More is not better when more means less reliable</a:t>
            </a:r>
          </a:p>
          <a:p>
            <a:endParaRPr lang="en-B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988A87-AF26-4778-AEF3-926B67A56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6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2631613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B32CA-217E-B476-0957-0D7F5A1E8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1: Obtain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F26A90-15A7-3573-34E1-3485889ECC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We’ve been storing huge amounts of data the past few years, but this data isn’t always publicly available</a:t>
            </a:r>
          </a:p>
          <a:p>
            <a:r>
              <a:rPr lang="en-US" dirty="0"/>
              <a:t>For example: a student internship was “scrape all the price data for holiday parks, so our client can use this data to better position themselves in the market.”</a:t>
            </a:r>
          </a:p>
          <a:p>
            <a:pPr lvl="1"/>
            <a:r>
              <a:rPr lang="en-US" dirty="0"/>
              <a:t>Very nice dataset by the way.</a:t>
            </a:r>
          </a:p>
          <a:p>
            <a:r>
              <a:rPr lang="en-US" dirty="0"/>
              <a:t>This process is called “scraping” and it’s really fun</a:t>
            </a:r>
          </a:p>
          <a:p>
            <a:pPr lvl="1"/>
            <a:r>
              <a:rPr lang="en-US" dirty="0"/>
              <a:t>It’s like a sudoku but with data and programming</a:t>
            </a:r>
          </a:p>
          <a:p>
            <a:r>
              <a:rPr lang="en-US" dirty="0"/>
              <a:t>Assignment for students in the data science course:</a:t>
            </a:r>
            <a:br>
              <a:rPr lang="en-US" dirty="0"/>
            </a:br>
            <a:r>
              <a:rPr lang="en-US" dirty="0"/>
              <a:t>Scrape some festival line-ups and compare them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6D4491-E07E-BD5D-5480-C918E4246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7</a:t>
            </a:fld>
            <a:endParaRPr lang="nl-BE" dirty="0"/>
          </a:p>
        </p:txBody>
      </p:sp>
      <p:pic>
        <p:nvPicPr>
          <p:cNvPr id="6" name="Picture 5" descr="Long sleeved blue shirt with white text&#10;&#10;AI-generated content may be incorrect.">
            <a:extLst>
              <a:ext uri="{FF2B5EF4-FFF2-40B4-BE49-F238E27FC236}">
                <a16:creationId xmlns:a16="http://schemas.microsoft.com/office/drawing/2014/main" id="{92546128-0164-449F-686F-65523EF429E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2753" y="3757706"/>
            <a:ext cx="3098800" cy="30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30887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4828A-01B7-4863-9FFE-F52CBC8BE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2: Scrub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213BBF-3E86-4738-B987-6FC2A654DD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Are all dates recognized as dates?</a:t>
            </a:r>
          </a:p>
          <a:p>
            <a:r>
              <a:rPr lang="en-US" dirty="0"/>
              <a:t>Are all numbers recognized as numbers?</a:t>
            </a:r>
          </a:p>
          <a:p>
            <a:r>
              <a:rPr lang="en-US" dirty="0"/>
              <a:t>Is the information of different files correctly merged?</a:t>
            </a:r>
          </a:p>
          <a:p>
            <a:r>
              <a:rPr lang="en-US" dirty="0"/>
              <a:t>Does every datapoint translate to a single piece of information?</a:t>
            </a:r>
          </a:p>
          <a:p>
            <a:pPr lvl="1"/>
            <a:r>
              <a:rPr lang="en-US" dirty="0"/>
              <a:t>National Insurance Number: date of birth and gender</a:t>
            </a:r>
          </a:p>
          <a:p>
            <a:pPr lvl="1"/>
            <a:r>
              <a:rPr lang="en-US" dirty="0"/>
              <a:t>Street name and number: Split? Merge?</a:t>
            </a:r>
          </a:p>
          <a:p>
            <a:r>
              <a:rPr lang="en-US" dirty="0"/>
              <a:t>Are there missing values? How will you deal with them?</a:t>
            </a:r>
          </a:p>
          <a:p>
            <a:pPr lvl="1"/>
            <a:r>
              <a:rPr lang="en-US" dirty="0"/>
              <a:t>Amputation/imputation will be a big thing later in this presentation</a:t>
            </a:r>
          </a:p>
          <a:p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5EB56C-B9A3-4B4B-8E12-5D27B0F48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8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0473468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704A17-B7F9-3563-6426-B8C3CD3BCE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2: Scrub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BA485C-0E68-7357-B4DC-607CAE6910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Sometimes it feels like the easiest way of dealing with dates is simply storing “year”, “month” and “day” in a different variable (or field or…)</a:t>
            </a:r>
          </a:p>
          <a:p>
            <a:r>
              <a:rPr lang="en-US" dirty="0"/>
              <a:t>But your gut feeling is </a:t>
            </a:r>
            <a:r>
              <a:rPr lang="en-US" b="1" dirty="0"/>
              <a:t>wrong</a:t>
            </a:r>
            <a:r>
              <a:rPr lang="en-US" dirty="0"/>
              <a:t>: you should always use the correct datetime-datatypes</a:t>
            </a:r>
          </a:p>
          <a:p>
            <a:r>
              <a:rPr lang="en-US" dirty="0"/>
              <a:t>There are many, and for every language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And using them is always annoying in the beginning, but in the end it’s the only real viable option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6CD7DE-C68C-D487-70FB-AE37F35AD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9</a:t>
            </a:fld>
            <a:endParaRPr lang="nl-BE"/>
          </a:p>
        </p:txBody>
      </p:sp>
      <p:pic>
        <p:nvPicPr>
          <p:cNvPr id="6" name="Picture 5">
            <a:hlinkClick r:id="rId2"/>
            <a:extLst>
              <a:ext uri="{FF2B5EF4-FFF2-40B4-BE49-F238E27FC236}">
                <a16:creationId xmlns:a16="http://schemas.microsoft.com/office/drawing/2014/main" id="{5E60F450-654D-0D5E-C65F-013541C93C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9122" y="3686128"/>
            <a:ext cx="5958262" cy="1005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46169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E0580-EB30-4EF2-83FC-582203932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3: Explore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F9F2A2-690D-4BD4-960A-89C0DBD210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Try to make sense of all available data</a:t>
            </a:r>
          </a:p>
          <a:p>
            <a:r>
              <a:rPr lang="en-US" dirty="0"/>
              <a:t>Create some graphs, examine the distribution of all variables</a:t>
            </a:r>
          </a:p>
          <a:p>
            <a:r>
              <a:rPr lang="en-US" dirty="0"/>
              <a:t>Are there correlations between the data? Should there be?</a:t>
            </a:r>
          </a:p>
          <a:p>
            <a:pPr lvl="1"/>
            <a:r>
              <a:rPr lang="en-US" dirty="0"/>
              <a:t>High blood pressure in relation to height and weight</a:t>
            </a:r>
          </a:p>
          <a:p>
            <a:pPr lvl="1"/>
            <a:r>
              <a:rPr lang="en-US" dirty="0"/>
              <a:t>Do not assume causation!</a:t>
            </a:r>
          </a:p>
          <a:p>
            <a:r>
              <a:rPr lang="en-US" dirty="0"/>
              <a:t>If needed, go back to “Scrub”</a:t>
            </a:r>
          </a:p>
          <a:p>
            <a:pPr lvl="1"/>
            <a:r>
              <a:rPr lang="en-US" dirty="0"/>
              <a:t>Identify and label categorical data</a:t>
            </a:r>
          </a:p>
          <a:p>
            <a:pPr lvl="1"/>
            <a:r>
              <a:rPr lang="en-US" dirty="0"/>
              <a:t>Merge or split datapoints</a:t>
            </a:r>
          </a:p>
          <a:p>
            <a:pPr lvl="1"/>
            <a:r>
              <a:rPr lang="en-US" dirty="0"/>
              <a:t>Deal with outliers</a:t>
            </a:r>
          </a:p>
          <a:p>
            <a:r>
              <a:rPr lang="en-US" dirty="0"/>
              <a:t>Also: talk to the domain experts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65CB41-404D-47A0-8793-ADA50740F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10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0617396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5EDCB-9E4A-E657-7224-6DC0DABC0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3: Explore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302FC5-AF4E-603E-569C-212B4301C9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705" y="1550894"/>
            <a:ext cx="8040595" cy="4626069"/>
          </a:xfrm>
        </p:spPr>
        <p:txBody>
          <a:bodyPr/>
          <a:lstStyle/>
          <a:p>
            <a:r>
              <a:rPr lang="en-US" dirty="0"/>
              <a:t>At this point you’ll also be needing a domain expert</a:t>
            </a:r>
          </a:p>
          <a:p>
            <a:r>
              <a:rPr lang="en-US" dirty="0"/>
              <a:t>With domain knowledge, you can begin to determine the features and target data that your model needs to make accurate predictions</a:t>
            </a:r>
          </a:p>
          <a:p>
            <a:r>
              <a:rPr lang="en-US" dirty="0"/>
              <a:t>Your data should be representative of the data that you are going to have when you use the model to make a prediction</a:t>
            </a:r>
          </a:p>
          <a:p>
            <a:r>
              <a:rPr lang="en-US" dirty="0"/>
              <a:t>They help you understand which fields are important and which not, which outliers are safe to throw away, how data can be imputed, …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894F16-9031-8AF2-27CE-1172A1250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11</a:t>
            </a:fld>
            <a:endParaRPr lang="nl-BE"/>
          </a:p>
        </p:txBody>
      </p:sp>
      <p:pic>
        <p:nvPicPr>
          <p:cNvPr id="6" name="Picture 5" descr="A black background with white spots&#10;&#10;AI-generated content may be incorrect.">
            <a:extLst>
              <a:ext uri="{FF2B5EF4-FFF2-40B4-BE49-F238E27FC236}">
                <a16:creationId xmlns:a16="http://schemas.microsoft.com/office/drawing/2014/main" id="{448E0699-259C-6C75-3A4D-08B58575B08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8331" y="1701800"/>
            <a:ext cx="3367643" cy="515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59074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EECCC-C585-478B-BA2D-6876CAA64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Step 4: Model data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7EA95-DD87-4827-864B-2CB5292954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models that can explain or predict based upon the data you have imported</a:t>
            </a:r>
          </a:p>
          <a:p>
            <a:pPr lvl="1"/>
            <a:r>
              <a:rPr lang="en-US" dirty="0"/>
              <a:t>Classify using logistic regression</a:t>
            </a:r>
          </a:p>
          <a:p>
            <a:pPr lvl="1"/>
            <a:r>
              <a:rPr lang="en-US" dirty="0"/>
              <a:t>Predict using linear regression</a:t>
            </a:r>
          </a:p>
          <a:p>
            <a:pPr lvl="1"/>
            <a:r>
              <a:rPr lang="en-US" dirty="0"/>
              <a:t>Cluster using k-means or hierarchical clustering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(What we did in the previous chapter)</a:t>
            </a:r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AD0E5C-2AC8-4B8D-93D6-47218858E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12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7538700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42983-0403-4BCA-927E-135811F3E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Step 5: Interpret the data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437A2E-1531-4A10-8883-72535B0D25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The ultimate goal of every data science-project</a:t>
            </a:r>
          </a:p>
          <a:p>
            <a:r>
              <a:rPr lang="en-US"/>
              <a:t>Test how the models we made generalize</a:t>
            </a:r>
          </a:p>
          <a:p>
            <a:r>
              <a:rPr lang="en-US"/>
              <a:t>Explain our findings to a non-domain specialist</a:t>
            </a:r>
          </a:p>
          <a:p>
            <a:r>
              <a:rPr lang="en-US"/>
              <a:t>Answer the questions we posed in the beginning</a:t>
            </a:r>
          </a:p>
          <a:p>
            <a:pPr lvl="1"/>
            <a:r>
              <a:rPr lang="en-US"/>
              <a:t>Do heavier cars always consume more gas?</a:t>
            </a:r>
          </a:p>
          <a:p>
            <a:pPr lvl="1"/>
            <a:r>
              <a:rPr lang="en-US"/>
              <a:t>In which season are there more insect-bites?</a:t>
            </a:r>
          </a:p>
          <a:p>
            <a:r>
              <a:rPr lang="en-US"/>
              <a:t>Tell a story using the data you were given.</a:t>
            </a:r>
            <a:endParaRPr lang="en-B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9442AB-AC22-455A-B7B6-FEBD513FB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13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9534512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55B51-7D4D-4315-86E6-C1271499B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err="1"/>
              <a:t>Summing</a:t>
            </a:r>
            <a:r>
              <a:rPr lang="nl-BE"/>
              <a:t> up</a:t>
            </a:r>
            <a:endParaRPr lang="en-US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A902BDF0-FFCE-4F8C-B523-0F8262DA08A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82613" y="1550988"/>
          <a:ext cx="11291886" cy="439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5041">
                  <a:extLst>
                    <a:ext uri="{9D8B030D-6E8A-4147-A177-3AD203B41FA5}">
                      <a16:colId xmlns:a16="http://schemas.microsoft.com/office/drawing/2014/main" val="4026651799"/>
                    </a:ext>
                  </a:extLst>
                </a:gridCol>
                <a:gridCol w="5288692">
                  <a:extLst>
                    <a:ext uri="{9D8B030D-6E8A-4147-A177-3AD203B41FA5}">
                      <a16:colId xmlns:a16="http://schemas.microsoft.com/office/drawing/2014/main" val="3120746523"/>
                    </a:ext>
                  </a:extLst>
                </a:gridCol>
                <a:gridCol w="4658153">
                  <a:extLst>
                    <a:ext uri="{9D8B030D-6E8A-4147-A177-3AD203B41FA5}">
                      <a16:colId xmlns:a16="http://schemas.microsoft.com/office/drawing/2014/main" val="42311506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nl-BE"/>
                        <a:t>OSEMN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err="1"/>
                        <a:t>Description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/>
                        <a:t>Technologies </a:t>
                      </a:r>
                      <a:r>
                        <a:rPr lang="nl-BE" err="1"/>
                        <a:t>used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00149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BE" err="1"/>
                        <a:t>Obtain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err="1"/>
                        <a:t>Gathering</a:t>
                      </a:r>
                      <a:r>
                        <a:rPr lang="nl-BE"/>
                        <a:t> data </a:t>
                      </a:r>
                      <a:r>
                        <a:rPr lang="nl-BE" err="1"/>
                        <a:t>from</a:t>
                      </a:r>
                      <a:r>
                        <a:rPr lang="nl-BE"/>
                        <a:t> databases, </a:t>
                      </a:r>
                      <a:r>
                        <a:rPr lang="nl-BE" err="1"/>
                        <a:t>the</a:t>
                      </a:r>
                      <a:r>
                        <a:rPr lang="nl-BE"/>
                        <a:t> web, open data platforms like </a:t>
                      </a:r>
                      <a:r>
                        <a:rPr lang="nl-BE" err="1"/>
                        <a:t>Kaggle</a:t>
                      </a:r>
                      <a:r>
                        <a:rPr lang="nl-BE"/>
                        <a:t>, …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/>
                        <a:t>SQL, Web </a:t>
                      </a:r>
                      <a:r>
                        <a:rPr lang="nl-BE" err="1"/>
                        <a:t>APIs</a:t>
                      </a:r>
                      <a:r>
                        <a:rPr lang="nl-BE"/>
                        <a:t>, </a:t>
                      </a:r>
                      <a:r>
                        <a:rPr lang="nl-BE" b="1"/>
                        <a:t>Web </a:t>
                      </a:r>
                      <a:r>
                        <a:rPr lang="nl-BE" b="1" err="1"/>
                        <a:t>Scraping</a:t>
                      </a:r>
                      <a:r>
                        <a:rPr lang="nl-BE" b="1"/>
                        <a:t> </a:t>
                      </a:r>
                      <a:r>
                        <a:rPr lang="nl-BE"/>
                        <a:t>via Python </a:t>
                      </a:r>
                      <a:r>
                        <a:rPr lang="nl-BE" err="1"/>
                        <a:t>libraries</a:t>
                      </a:r>
                      <a:r>
                        <a:rPr lang="nl-BE"/>
                        <a:t> like </a:t>
                      </a:r>
                      <a:r>
                        <a:rPr lang="nl-BE" err="1"/>
                        <a:t>Beautiful</a:t>
                      </a:r>
                      <a:r>
                        <a:rPr lang="nl-BE"/>
                        <a:t> </a:t>
                      </a:r>
                      <a:r>
                        <a:rPr lang="nl-BE" err="1"/>
                        <a:t>Soup</a:t>
                      </a:r>
                      <a:r>
                        <a:rPr lang="nl-BE"/>
                        <a:t>, …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1255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BE"/>
                        <a:t>Scrub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Organising</a:t>
                      </a:r>
                      <a:r>
                        <a:rPr lang="en-U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and tidying up the data, removing what is no longer needed, replacing what is missing and </a:t>
                      </a:r>
                      <a:r>
                        <a:rPr lang="en-US" sz="1800" b="0" i="0" kern="120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standardising</a:t>
                      </a:r>
                      <a:r>
                        <a:rPr lang="en-U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the format across all the data collected.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b="1" dirty="0" err="1"/>
                        <a:t>Regex</a:t>
                      </a:r>
                      <a:r>
                        <a:rPr lang="nl-BE" b="1" dirty="0"/>
                        <a:t>, Python </a:t>
                      </a:r>
                      <a:r>
                        <a:rPr lang="nl-BE" b="1" dirty="0" err="1"/>
                        <a:t>Pandas</a:t>
                      </a:r>
                      <a:r>
                        <a:rPr lang="nl-BE" b="1" dirty="0"/>
                        <a:t> </a:t>
                      </a:r>
                      <a:r>
                        <a:rPr lang="nl-BE" b="1" dirty="0" err="1"/>
                        <a:t>library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0001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BE" err="1"/>
                        <a:t>Explore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err="1"/>
                        <a:t>Inspecting</a:t>
                      </a:r>
                      <a:r>
                        <a:rPr lang="nl-BE"/>
                        <a:t> </a:t>
                      </a:r>
                      <a:r>
                        <a:rPr lang="nl-BE" err="1"/>
                        <a:t>and</a:t>
                      </a:r>
                      <a:r>
                        <a:rPr lang="nl-BE"/>
                        <a:t> </a:t>
                      </a:r>
                      <a:r>
                        <a:rPr lang="nl-BE" err="1"/>
                        <a:t>analyzing</a:t>
                      </a:r>
                      <a:r>
                        <a:rPr lang="nl-BE"/>
                        <a:t> </a:t>
                      </a:r>
                      <a:r>
                        <a:rPr lang="nl-BE" err="1"/>
                        <a:t>the</a:t>
                      </a:r>
                      <a:r>
                        <a:rPr lang="nl-BE"/>
                        <a:t> data </a:t>
                      </a:r>
                      <a:r>
                        <a:rPr lang="nl-BE" err="1"/>
                        <a:t>with</a:t>
                      </a:r>
                      <a:r>
                        <a:rPr lang="nl-BE"/>
                        <a:t> </a:t>
                      </a:r>
                      <a:r>
                        <a:rPr lang="nl-BE" err="1"/>
                        <a:t>descriptive</a:t>
                      </a:r>
                      <a:r>
                        <a:rPr lang="nl-BE"/>
                        <a:t> </a:t>
                      </a:r>
                      <a:r>
                        <a:rPr lang="nl-BE" err="1"/>
                        <a:t>statistics</a:t>
                      </a:r>
                      <a:r>
                        <a:rPr lang="nl-BE"/>
                        <a:t> (min-max-</a:t>
                      </a:r>
                      <a:r>
                        <a:rPr lang="nl-BE" err="1"/>
                        <a:t>mean</a:t>
                      </a:r>
                      <a:r>
                        <a:rPr lang="nl-BE"/>
                        <a:t>-</a:t>
                      </a:r>
                      <a:r>
                        <a:rPr lang="nl-BE" err="1"/>
                        <a:t>median-correlations-distributions</a:t>
                      </a:r>
                      <a:r>
                        <a:rPr lang="nl-BE"/>
                        <a:t>-…) </a:t>
                      </a:r>
                      <a:r>
                        <a:rPr lang="nl-BE" err="1"/>
                        <a:t>and</a:t>
                      </a:r>
                      <a:r>
                        <a:rPr lang="nl-BE"/>
                        <a:t>  basic </a:t>
                      </a:r>
                      <a:r>
                        <a:rPr lang="nl-BE" err="1"/>
                        <a:t>visualizations</a:t>
                      </a:r>
                      <a:r>
                        <a:rPr lang="nl-BE"/>
                        <a:t>.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/>
                        <a:t>Python </a:t>
                      </a:r>
                      <a:r>
                        <a:rPr lang="nl-BE" err="1"/>
                        <a:t>libraries</a:t>
                      </a:r>
                      <a:r>
                        <a:rPr lang="nl-BE"/>
                        <a:t> like </a:t>
                      </a:r>
                      <a:r>
                        <a:rPr lang="nl-BE" b="1" err="1"/>
                        <a:t>NumPy</a:t>
                      </a:r>
                      <a:r>
                        <a:rPr lang="nl-BE" b="1"/>
                        <a:t> &amp; </a:t>
                      </a:r>
                      <a:r>
                        <a:rPr lang="nl-BE" b="1" err="1"/>
                        <a:t>Pandas</a:t>
                      </a:r>
                      <a:r>
                        <a:rPr lang="nl-BE" b="1"/>
                        <a:t> </a:t>
                      </a:r>
                      <a:br>
                        <a:rPr lang="nl-BE"/>
                      </a:br>
                      <a:r>
                        <a:rPr lang="nl-BE" err="1"/>
                        <a:t>Visualization</a:t>
                      </a:r>
                      <a:r>
                        <a:rPr lang="nl-BE"/>
                        <a:t> </a:t>
                      </a:r>
                      <a:r>
                        <a:rPr lang="nl-BE" err="1"/>
                        <a:t>libraries</a:t>
                      </a:r>
                      <a:r>
                        <a:rPr lang="nl-BE"/>
                        <a:t> like </a:t>
                      </a:r>
                      <a:r>
                        <a:rPr lang="nl-BE" b="1" err="1"/>
                        <a:t>MatPlotLib</a:t>
                      </a:r>
                      <a:r>
                        <a:rPr lang="nl-BE"/>
                        <a:t> &amp; </a:t>
                      </a:r>
                      <a:r>
                        <a:rPr lang="nl-BE" err="1"/>
                        <a:t>Seaborn</a:t>
                      </a:r>
                      <a:br>
                        <a:rPr lang="nl-BE"/>
                      </a:br>
                      <a:r>
                        <a:rPr lang="nl-BE" err="1"/>
                        <a:t>Visualization</a:t>
                      </a:r>
                      <a:r>
                        <a:rPr lang="nl-BE"/>
                        <a:t> tools like </a:t>
                      </a:r>
                      <a:r>
                        <a:rPr lang="nl-BE" err="1"/>
                        <a:t>Qlik</a:t>
                      </a:r>
                      <a:r>
                        <a:rPr lang="nl-BE"/>
                        <a:t>, Tableau, </a:t>
                      </a:r>
                      <a:r>
                        <a:rPr lang="nl-BE" err="1"/>
                        <a:t>PowerBI</a:t>
                      </a:r>
                      <a:r>
                        <a:rPr lang="nl-BE"/>
                        <a:t> 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28681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BE"/>
                        <a:t>Model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/>
                        <a:t>Setting up </a:t>
                      </a:r>
                      <a:r>
                        <a:rPr lang="nl-BE" err="1"/>
                        <a:t>models</a:t>
                      </a:r>
                      <a:r>
                        <a:rPr lang="nl-BE"/>
                        <a:t> </a:t>
                      </a:r>
                      <a:r>
                        <a:rPr lang="en-U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 forecast future values or classify and group values.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/>
                        <a:t>Python </a:t>
                      </a:r>
                      <a:r>
                        <a:rPr lang="nl-BE" err="1"/>
                        <a:t>libraries</a:t>
                      </a:r>
                      <a:r>
                        <a:rPr lang="nl-BE"/>
                        <a:t> like </a:t>
                      </a:r>
                      <a:r>
                        <a:rPr lang="nl-BE" err="1"/>
                        <a:t>SciKit</a:t>
                      </a:r>
                      <a:r>
                        <a:rPr lang="nl-BE"/>
                        <a:t> 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27634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BE" err="1"/>
                        <a:t>Interpret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Presenting the data to an audience. Delivering the results in such a way business questions are responded, and actionable insights are provided. 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Python libraries like Matplotlib &amp; </a:t>
                      </a:r>
                      <a:r>
                        <a:rPr lang="en-US" sz="1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3"/>
                        </a:rPr>
                        <a:t>Seaborn</a:t>
                      </a:r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Javascript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libraries like </a:t>
                      </a:r>
                      <a:r>
                        <a:rPr lang="en-US" sz="1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4"/>
                        </a:rPr>
                        <a:t>d3js </a:t>
                      </a:r>
                      <a:endParaRPr lang="en-US" dirty="0"/>
                    </a:p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Dashboarding tools like </a:t>
                      </a:r>
                      <a:r>
                        <a:rPr lang="nl-BE" dirty="0" err="1"/>
                        <a:t>Qlik</a:t>
                      </a:r>
                      <a:r>
                        <a:rPr lang="nl-BE" dirty="0"/>
                        <a:t>, Tableau, </a:t>
                      </a:r>
                      <a:r>
                        <a:rPr lang="nl-BE" dirty="0" err="1"/>
                        <a:t>PowerBI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6820203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E38533-A38C-4AF6-90DF-19F295838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14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8298882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F8E8F-6B05-F45C-F237-5EF241207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[Stolen from R]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E08499-4AE7-DE75-A4D2-6BCFD79E9B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705" y="1550894"/>
            <a:ext cx="7342095" cy="4626069"/>
          </a:xfrm>
        </p:spPr>
        <p:txBody>
          <a:bodyPr>
            <a:normAutofit fontScale="92500"/>
          </a:bodyPr>
          <a:lstStyle/>
          <a:p>
            <a:r>
              <a:rPr lang="en-US" dirty="0"/>
              <a:t>Disclaimer: Sometimes we reuse slides</a:t>
            </a:r>
          </a:p>
          <a:p>
            <a:r>
              <a:rPr lang="en-US" dirty="0"/>
              <a:t>The following slides were reused from the course “Data science in R”</a:t>
            </a:r>
          </a:p>
          <a:p>
            <a:r>
              <a:rPr lang="en-US" dirty="0"/>
              <a:t>R is a very good language for statistics and it interacts really well with BI-tools</a:t>
            </a:r>
          </a:p>
          <a:p>
            <a:pPr lvl="1"/>
            <a:r>
              <a:rPr lang="en-US" dirty="0"/>
              <a:t>They’re being used by the same type of people</a:t>
            </a:r>
          </a:p>
          <a:p>
            <a:pPr lvl="1"/>
            <a:r>
              <a:rPr lang="en-US" dirty="0"/>
              <a:t>Programming in R is strange though</a:t>
            </a:r>
          </a:p>
          <a:p>
            <a:r>
              <a:rPr lang="en-US" dirty="0"/>
              <a:t>They explain when data is “tidy”, which is a big thing in R</a:t>
            </a:r>
          </a:p>
          <a:p>
            <a:r>
              <a:rPr lang="en-US" dirty="0"/>
              <a:t>We don’t have such a concept in Python,</a:t>
            </a:r>
            <a:br>
              <a:rPr lang="en-US" dirty="0"/>
            </a:br>
            <a:r>
              <a:rPr lang="en-US" b="1" dirty="0"/>
              <a:t>but we should </a:t>
            </a:r>
            <a:r>
              <a:rPr lang="en-US" dirty="0"/>
              <a:t>(and at the very least be aware of it)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C4D233-3961-C0BB-2706-6DEDCB168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15</a:t>
            </a:fld>
            <a:endParaRPr lang="nl-BE"/>
          </a:p>
        </p:txBody>
      </p:sp>
      <p:pic>
        <p:nvPicPr>
          <p:cNvPr id="6" name="Picture 5" descr="A green recycle symbol with arrows around the earth&#10;&#10;AI-generated content may be incorrect.">
            <a:extLst>
              <a:ext uri="{FF2B5EF4-FFF2-40B4-BE49-F238E27FC236}">
                <a16:creationId xmlns:a16="http://schemas.microsoft.com/office/drawing/2014/main" id="{5062E2FA-F7E4-1656-F1EA-BBD4AD96C78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4176" y="1965774"/>
            <a:ext cx="3937824" cy="3796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63705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943F21F-B143-7BEB-7A2B-FF280F7F5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Same data, different formats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70B171-9888-627F-53B1-A676AC91C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16</a:t>
            </a:fld>
            <a:endParaRPr lang="nl-B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C7D404-5096-5571-8D50-9D758D701440}"/>
              </a:ext>
            </a:extLst>
          </p:cNvPr>
          <p:cNvSpPr txBox="1"/>
          <p:nvPr/>
        </p:nvSpPr>
        <p:spPr>
          <a:xfrm>
            <a:off x="822354" y="1613118"/>
            <a:ext cx="3949221" cy="1815882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 wrap="square" rtlCol="0">
            <a:spAutoFit/>
          </a:bodyPr>
          <a:lstStyle>
            <a:defPPr>
              <a:defRPr lang="nl-BE"/>
            </a:defPPr>
            <a:lvl1pPr>
              <a:defRPr sz="1600">
                <a:solidFill>
                  <a:srgbClr val="2306F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r>
              <a:rPr lang="en-GB" sz="1400" dirty="0">
                <a:solidFill>
                  <a:srgbClr val="000000"/>
                </a:solidFill>
              </a:rPr>
              <a:t>  country      year  cases population</a:t>
            </a:r>
          </a:p>
          <a:p>
            <a:r>
              <a:rPr lang="en-GB" sz="1400" i="1" dirty="0">
                <a:solidFill>
                  <a:srgbClr val="B7A9B6"/>
                </a:solidFill>
              </a:rPr>
              <a:t>  &lt;chr&gt;       &lt;int&gt;  &lt;int&gt;      &lt;int&gt;</a:t>
            </a:r>
          </a:p>
          <a:p>
            <a:r>
              <a:rPr lang="en-GB" sz="1400" dirty="0">
                <a:solidFill>
                  <a:srgbClr val="000000"/>
                </a:solidFill>
              </a:rPr>
              <a:t>1 Afghanistan  1999    745   19987071</a:t>
            </a:r>
          </a:p>
          <a:p>
            <a:r>
              <a:rPr lang="en-GB" sz="1400" dirty="0">
                <a:solidFill>
                  <a:srgbClr val="000000"/>
                </a:solidFill>
              </a:rPr>
              <a:t>2 Afghanistan  2000   2666   20595360</a:t>
            </a:r>
          </a:p>
          <a:p>
            <a:r>
              <a:rPr lang="en-GB" sz="1400" dirty="0">
                <a:solidFill>
                  <a:srgbClr val="000000"/>
                </a:solidFill>
              </a:rPr>
              <a:t>3 Brazil       1999  37737  172006362</a:t>
            </a:r>
          </a:p>
          <a:p>
            <a:r>
              <a:rPr lang="en-GB" sz="1400" dirty="0">
                <a:solidFill>
                  <a:srgbClr val="000000"/>
                </a:solidFill>
              </a:rPr>
              <a:t>4 Brazil       2000  80488  174504898</a:t>
            </a:r>
          </a:p>
          <a:p>
            <a:r>
              <a:rPr lang="en-GB" sz="1400" dirty="0">
                <a:solidFill>
                  <a:srgbClr val="000000"/>
                </a:solidFill>
              </a:rPr>
              <a:t>5 China        1999 212258 1272915272</a:t>
            </a:r>
          </a:p>
          <a:p>
            <a:r>
              <a:rPr lang="en-GB" sz="1400" dirty="0">
                <a:solidFill>
                  <a:srgbClr val="000000"/>
                </a:solidFill>
              </a:rPr>
              <a:t>6 China        2000 213766 1280428583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D5F75E9-CFAB-EB40-35AE-850A7F52BD5F}"/>
              </a:ext>
            </a:extLst>
          </p:cNvPr>
          <p:cNvSpPr txBox="1"/>
          <p:nvPr/>
        </p:nvSpPr>
        <p:spPr>
          <a:xfrm>
            <a:off x="5672499" y="1619858"/>
            <a:ext cx="4499942" cy="3108543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 wrap="square" rtlCol="0">
            <a:spAutoFit/>
          </a:bodyPr>
          <a:lstStyle>
            <a:defPPr>
              <a:defRPr lang="nl-BE"/>
            </a:defPPr>
            <a:lvl1pPr>
              <a:defRPr sz="1600">
                <a:solidFill>
                  <a:srgbClr val="2306F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r>
              <a:rPr lang="en-GB" sz="1400">
                <a:solidFill>
                  <a:srgbClr val="000000"/>
                </a:solidFill>
              </a:rPr>
              <a:t>   country      year type            count</a:t>
            </a:r>
          </a:p>
          <a:p>
            <a:r>
              <a:rPr lang="en-GB" sz="1400" i="1">
                <a:solidFill>
                  <a:srgbClr val="B7A9B6"/>
                </a:solidFill>
              </a:rPr>
              <a:t>   &lt;</a:t>
            </a:r>
            <a:r>
              <a:rPr lang="en-GB" sz="1400" i="1" err="1">
                <a:solidFill>
                  <a:srgbClr val="B7A9B6"/>
                </a:solidFill>
              </a:rPr>
              <a:t>chr</a:t>
            </a:r>
            <a:r>
              <a:rPr lang="en-GB" sz="1400" i="1">
                <a:solidFill>
                  <a:srgbClr val="B7A9B6"/>
                </a:solidFill>
              </a:rPr>
              <a:t>&gt;       &lt;int&gt; &lt;</a:t>
            </a:r>
            <a:r>
              <a:rPr lang="en-GB" sz="1400" i="1" err="1">
                <a:solidFill>
                  <a:srgbClr val="B7A9B6"/>
                </a:solidFill>
              </a:rPr>
              <a:t>chr</a:t>
            </a:r>
            <a:r>
              <a:rPr lang="en-GB" sz="1400" i="1">
                <a:solidFill>
                  <a:srgbClr val="B7A9B6"/>
                </a:solidFill>
              </a:rPr>
              <a:t>&gt;           &lt;int&gt;</a:t>
            </a:r>
          </a:p>
          <a:p>
            <a:r>
              <a:rPr lang="en-GB" sz="1400">
                <a:solidFill>
                  <a:srgbClr val="000000"/>
                </a:solidFill>
              </a:rPr>
              <a:t> 1 Afghanistan  1999 cases             745</a:t>
            </a:r>
          </a:p>
          <a:p>
            <a:r>
              <a:rPr lang="en-GB" sz="1400">
                <a:solidFill>
                  <a:srgbClr val="000000"/>
                </a:solidFill>
              </a:rPr>
              <a:t> 2 Afghanistan  1999 population   19987071</a:t>
            </a:r>
          </a:p>
          <a:p>
            <a:r>
              <a:rPr lang="en-GB" sz="1400">
                <a:solidFill>
                  <a:srgbClr val="000000"/>
                </a:solidFill>
              </a:rPr>
              <a:t> 3 Afghanistan  2000 cases            2666</a:t>
            </a:r>
          </a:p>
          <a:p>
            <a:r>
              <a:rPr lang="en-GB" sz="1400">
                <a:solidFill>
                  <a:srgbClr val="000000"/>
                </a:solidFill>
              </a:rPr>
              <a:t> 4 Afghanistan  2000 population   20595360</a:t>
            </a:r>
          </a:p>
          <a:p>
            <a:r>
              <a:rPr lang="en-GB" sz="1400">
                <a:solidFill>
                  <a:srgbClr val="000000"/>
                </a:solidFill>
              </a:rPr>
              <a:t> 5 Brazil       1999 cases           37737</a:t>
            </a:r>
          </a:p>
          <a:p>
            <a:r>
              <a:rPr lang="en-GB" sz="1400">
                <a:solidFill>
                  <a:srgbClr val="000000"/>
                </a:solidFill>
              </a:rPr>
              <a:t> 6 Brazil       1999 population  172006362</a:t>
            </a:r>
          </a:p>
          <a:p>
            <a:r>
              <a:rPr lang="en-GB" sz="1400">
                <a:solidFill>
                  <a:srgbClr val="000000"/>
                </a:solidFill>
              </a:rPr>
              <a:t> 7 Brazil       2000 cases           80488</a:t>
            </a:r>
          </a:p>
          <a:p>
            <a:r>
              <a:rPr lang="en-GB" sz="1400">
                <a:solidFill>
                  <a:srgbClr val="000000"/>
                </a:solidFill>
              </a:rPr>
              <a:t> 8 Brazil       2000 population  174504898</a:t>
            </a:r>
          </a:p>
          <a:p>
            <a:r>
              <a:rPr lang="en-GB" sz="1400">
                <a:solidFill>
                  <a:srgbClr val="000000"/>
                </a:solidFill>
              </a:rPr>
              <a:t> 9 China        1999 cases          212258</a:t>
            </a:r>
          </a:p>
          <a:p>
            <a:r>
              <a:rPr lang="en-GB" sz="1400">
                <a:solidFill>
                  <a:srgbClr val="000000"/>
                </a:solidFill>
              </a:rPr>
              <a:t>10 China        1999 population 1272915272</a:t>
            </a:r>
          </a:p>
          <a:p>
            <a:r>
              <a:rPr lang="en-GB" sz="1400">
                <a:solidFill>
                  <a:srgbClr val="000000"/>
                </a:solidFill>
              </a:rPr>
              <a:t>11 China        2000 cases          213766</a:t>
            </a:r>
          </a:p>
          <a:p>
            <a:r>
              <a:rPr lang="en-GB" sz="1400">
                <a:solidFill>
                  <a:srgbClr val="000000"/>
                </a:solidFill>
              </a:rPr>
              <a:t>12 China        2000 population 1280428583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33481F-46B6-A544-A757-E1FE4174962E}"/>
              </a:ext>
            </a:extLst>
          </p:cNvPr>
          <p:cNvSpPr txBox="1"/>
          <p:nvPr/>
        </p:nvSpPr>
        <p:spPr>
          <a:xfrm>
            <a:off x="822354" y="3832012"/>
            <a:ext cx="4059627" cy="1815882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 wrap="square" rtlCol="0">
            <a:spAutoFit/>
          </a:bodyPr>
          <a:lstStyle>
            <a:defPPr>
              <a:defRPr lang="nl-BE"/>
            </a:defPPr>
            <a:lvl1pPr>
              <a:defRPr sz="1600">
                <a:solidFill>
                  <a:srgbClr val="2306F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r>
              <a:rPr lang="en-GB" sz="1400">
                <a:solidFill>
                  <a:srgbClr val="000000"/>
                </a:solidFill>
              </a:rPr>
              <a:t>  country      year rate             </a:t>
            </a:r>
          </a:p>
          <a:p>
            <a:r>
              <a:rPr lang="en-GB" sz="1400" i="1">
                <a:solidFill>
                  <a:srgbClr val="B7A9B6"/>
                </a:solidFill>
              </a:rPr>
              <a:t>* &lt;chr&gt;       &lt;int&gt; &lt;chr&gt;            </a:t>
            </a:r>
          </a:p>
          <a:p>
            <a:r>
              <a:rPr lang="en-GB" sz="1400">
                <a:solidFill>
                  <a:srgbClr val="000000"/>
                </a:solidFill>
              </a:rPr>
              <a:t>1 Afghanistan  1999 745/19987071     </a:t>
            </a:r>
          </a:p>
          <a:p>
            <a:r>
              <a:rPr lang="en-GB" sz="1400">
                <a:solidFill>
                  <a:srgbClr val="000000"/>
                </a:solidFill>
              </a:rPr>
              <a:t>2 Afghanistan  2000 2666/20595360    </a:t>
            </a:r>
          </a:p>
          <a:p>
            <a:r>
              <a:rPr lang="en-GB" sz="1400">
                <a:solidFill>
                  <a:srgbClr val="000000"/>
                </a:solidFill>
              </a:rPr>
              <a:t>3 Brazil       1999 37737/172006362  </a:t>
            </a:r>
          </a:p>
          <a:p>
            <a:r>
              <a:rPr lang="en-GB" sz="1400">
                <a:solidFill>
                  <a:srgbClr val="000000"/>
                </a:solidFill>
              </a:rPr>
              <a:t>4 Brazil       2000 80488/174504898  </a:t>
            </a:r>
          </a:p>
          <a:p>
            <a:r>
              <a:rPr lang="en-GB" sz="1400">
                <a:solidFill>
                  <a:srgbClr val="000000"/>
                </a:solidFill>
              </a:rPr>
              <a:t>5 China        1999 212258/1272915272</a:t>
            </a:r>
          </a:p>
          <a:p>
            <a:r>
              <a:rPr lang="en-GB" sz="1400">
                <a:solidFill>
                  <a:srgbClr val="000000"/>
                </a:solidFill>
              </a:rPr>
              <a:t>6 China        2000 213766/1280428583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7997F4B-5BF7-3352-779D-32727EA03727}"/>
              </a:ext>
            </a:extLst>
          </p:cNvPr>
          <p:cNvSpPr txBox="1"/>
          <p:nvPr/>
        </p:nvSpPr>
        <p:spPr>
          <a:xfrm>
            <a:off x="8894973" y="5063120"/>
            <a:ext cx="3297027" cy="1169551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 wrap="square" rtlCol="0">
            <a:spAutoFit/>
          </a:bodyPr>
          <a:lstStyle>
            <a:defPPr>
              <a:defRPr lang="nl-BE"/>
            </a:defPPr>
            <a:lvl1pPr>
              <a:defRPr sz="1600">
                <a:solidFill>
                  <a:srgbClr val="2306F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r>
              <a:rPr lang="en-GB" sz="1400">
                <a:solidFill>
                  <a:srgbClr val="000000"/>
                </a:solidFill>
              </a:rPr>
              <a:t>  country     `1999` `2000`</a:t>
            </a:r>
          </a:p>
          <a:p>
            <a:r>
              <a:rPr lang="en-GB" sz="1400">
                <a:solidFill>
                  <a:srgbClr val="000000"/>
                </a:solidFill>
              </a:rPr>
              <a:t>* &lt;</a:t>
            </a:r>
            <a:r>
              <a:rPr lang="en-GB" sz="1400" err="1">
                <a:solidFill>
                  <a:srgbClr val="000000"/>
                </a:solidFill>
              </a:rPr>
              <a:t>chr</a:t>
            </a:r>
            <a:r>
              <a:rPr lang="en-GB" sz="1400">
                <a:solidFill>
                  <a:srgbClr val="000000"/>
                </a:solidFill>
              </a:rPr>
              <a:t>&gt;        &lt;int&gt;  &lt;int&gt;</a:t>
            </a:r>
          </a:p>
          <a:p>
            <a:r>
              <a:rPr lang="en-GB" sz="1400">
                <a:solidFill>
                  <a:srgbClr val="000000"/>
                </a:solidFill>
              </a:rPr>
              <a:t>1 Afghanistan    745   2666</a:t>
            </a:r>
          </a:p>
          <a:p>
            <a:r>
              <a:rPr lang="en-GB" sz="1400">
                <a:solidFill>
                  <a:srgbClr val="000000"/>
                </a:solidFill>
              </a:rPr>
              <a:t>2 Brazil       37737  80488</a:t>
            </a:r>
          </a:p>
          <a:p>
            <a:r>
              <a:rPr lang="en-GB" sz="1400">
                <a:solidFill>
                  <a:srgbClr val="000000"/>
                </a:solidFill>
              </a:rPr>
              <a:t>3 China       212258 213766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E0E00AD-52AD-A09F-A3FE-DD4239297FAF}"/>
              </a:ext>
            </a:extLst>
          </p:cNvPr>
          <p:cNvSpPr txBox="1"/>
          <p:nvPr/>
        </p:nvSpPr>
        <p:spPr>
          <a:xfrm>
            <a:off x="5214827" y="5063120"/>
            <a:ext cx="3680146" cy="1169551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 wrap="square" rtlCol="0">
            <a:spAutoFit/>
          </a:bodyPr>
          <a:lstStyle>
            <a:defPPr>
              <a:defRPr lang="nl-BE"/>
            </a:defPPr>
            <a:lvl1pPr>
              <a:defRPr sz="1600">
                <a:solidFill>
                  <a:srgbClr val="2306F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r>
              <a:rPr lang="en-GB" sz="1400">
                <a:solidFill>
                  <a:srgbClr val="000000"/>
                </a:solidFill>
              </a:rPr>
              <a:t>  country         `1999`     `2000`</a:t>
            </a:r>
          </a:p>
          <a:p>
            <a:r>
              <a:rPr lang="en-GB" sz="1400">
                <a:solidFill>
                  <a:srgbClr val="000000"/>
                </a:solidFill>
              </a:rPr>
              <a:t>* &lt;chr&gt;            &lt;int&gt;      &lt;int&gt;</a:t>
            </a:r>
          </a:p>
          <a:p>
            <a:r>
              <a:rPr lang="en-GB" sz="1400">
                <a:solidFill>
                  <a:srgbClr val="000000"/>
                </a:solidFill>
              </a:rPr>
              <a:t>1 Afghanistan   19987071   20595360</a:t>
            </a:r>
          </a:p>
          <a:p>
            <a:r>
              <a:rPr lang="en-GB" sz="1400">
                <a:solidFill>
                  <a:srgbClr val="000000"/>
                </a:solidFill>
              </a:rPr>
              <a:t>2 Brazil       172006362  174504898</a:t>
            </a:r>
          </a:p>
          <a:p>
            <a:r>
              <a:rPr lang="en-GB" sz="1400">
                <a:solidFill>
                  <a:srgbClr val="000000"/>
                </a:solidFill>
              </a:rPr>
              <a:t>3 China       1272915272 1280428583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ACA87372-0EF7-A9A6-59F7-3108C63BF6D4}"/>
              </a:ext>
            </a:extLst>
          </p:cNvPr>
          <p:cNvSpPr/>
          <p:nvPr/>
        </p:nvSpPr>
        <p:spPr>
          <a:xfrm>
            <a:off x="343542" y="1764131"/>
            <a:ext cx="320511" cy="2909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BE"/>
              <a:t>1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4E9EC5AE-7A7F-8ACC-D956-5C2ED95222D9}"/>
              </a:ext>
            </a:extLst>
          </p:cNvPr>
          <p:cNvSpPr/>
          <p:nvPr/>
        </p:nvSpPr>
        <p:spPr>
          <a:xfrm>
            <a:off x="5137196" y="1613118"/>
            <a:ext cx="320511" cy="31939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BE"/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B572E41-7BB2-CF80-4AD8-386038DCB2C6}"/>
              </a:ext>
            </a:extLst>
          </p:cNvPr>
          <p:cNvSpPr/>
          <p:nvPr/>
        </p:nvSpPr>
        <p:spPr>
          <a:xfrm>
            <a:off x="343542" y="3915732"/>
            <a:ext cx="320511" cy="2909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BE"/>
              <a:t>3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0A21350-EA48-9306-4646-C2FBE480B532}"/>
              </a:ext>
            </a:extLst>
          </p:cNvPr>
          <p:cNvSpPr/>
          <p:nvPr/>
        </p:nvSpPr>
        <p:spPr>
          <a:xfrm>
            <a:off x="5214827" y="4634573"/>
            <a:ext cx="320511" cy="2909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BE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0434063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CDBB8-2A01-96C4-9D46-AC288F870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3 rules for data files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BCEDC8-E08B-2A29-617F-40D9A5D9F9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Each variable must have its own column.</a:t>
            </a:r>
          </a:p>
          <a:p>
            <a:r>
              <a:rPr lang="en-US" noProof="0" dirty="0"/>
              <a:t>Each observation must have its own row.</a:t>
            </a:r>
          </a:p>
          <a:p>
            <a:r>
              <a:rPr lang="en-US" noProof="0" dirty="0"/>
              <a:t>Each value must have its own cell.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806239-B614-72EA-7991-AEB04CA61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17</a:t>
            </a:fld>
            <a:endParaRPr lang="nl-BE"/>
          </a:p>
        </p:txBody>
      </p:sp>
      <p:pic>
        <p:nvPicPr>
          <p:cNvPr id="5" name="Picture 2" descr="Following three rules makes a dataset tidy: variables are in columns, observations are in rows, and values are in cells.">
            <a:extLst>
              <a:ext uri="{FF2B5EF4-FFF2-40B4-BE49-F238E27FC236}">
                <a16:creationId xmlns:a16="http://schemas.microsoft.com/office/drawing/2014/main" id="{E93E2039-9DFA-587B-0DD9-9FC1325D5F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9828" y="3394049"/>
            <a:ext cx="9192344" cy="2872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785666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943F21F-B143-7BEB-7A2B-FF280F7F5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noProof="0" dirty="0"/>
              <a:t>Does each variable have its own column?</a:t>
            </a:r>
            <a:endParaRPr lang="en-US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70B171-9888-627F-53B1-A676AC91C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18</a:t>
            </a:fld>
            <a:endParaRPr lang="nl-B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C7D404-5096-5571-8D50-9D758D701440}"/>
              </a:ext>
            </a:extLst>
          </p:cNvPr>
          <p:cNvSpPr txBox="1"/>
          <p:nvPr/>
        </p:nvSpPr>
        <p:spPr>
          <a:xfrm>
            <a:off x="822354" y="1613118"/>
            <a:ext cx="3949221" cy="1815882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 wrap="square" rtlCol="0">
            <a:spAutoFit/>
          </a:bodyPr>
          <a:lstStyle>
            <a:defPPr>
              <a:defRPr lang="nl-BE"/>
            </a:defPPr>
            <a:lvl1pPr>
              <a:defRPr sz="1600">
                <a:solidFill>
                  <a:srgbClr val="2306F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r>
              <a:rPr lang="en-GB" sz="1400">
                <a:solidFill>
                  <a:srgbClr val="000000"/>
                </a:solidFill>
              </a:rPr>
              <a:t>  country      year  cases population</a:t>
            </a:r>
          </a:p>
          <a:p>
            <a:r>
              <a:rPr lang="en-GB" sz="1400" i="1">
                <a:solidFill>
                  <a:srgbClr val="B7A9B6"/>
                </a:solidFill>
              </a:rPr>
              <a:t>  &lt;chr&gt;       &lt;int&gt;  &lt;int&gt;      &lt;int&gt;</a:t>
            </a:r>
          </a:p>
          <a:p>
            <a:r>
              <a:rPr lang="en-GB" sz="1400">
                <a:solidFill>
                  <a:srgbClr val="000000"/>
                </a:solidFill>
              </a:rPr>
              <a:t>1 Afghanistan  1999    745   19987071</a:t>
            </a:r>
          </a:p>
          <a:p>
            <a:r>
              <a:rPr lang="en-GB" sz="1400">
                <a:solidFill>
                  <a:srgbClr val="000000"/>
                </a:solidFill>
              </a:rPr>
              <a:t>2 Afghanistan  2000   2666   20595360</a:t>
            </a:r>
          </a:p>
          <a:p>
            <a:r>
              <a:rPr lang="en-GB" sz="1400">
                <a:solidFill>
                  <a:srgbClr val="000000"/>
                </a:solidFill>
              </a:rPr>
              <a:t>3 Brazil       1999  37737  172006362</a:t>
            </a:r>
          </a:p>
          <a:p>
            <a:r>
              <a:rPr lang="en-GB" sz="1400">
                <a:solidFill>
                  <a:srgbClr val="000000"/>
                </a:solidFill>
              </a:rPr>
              <a:t>4 Brazil       2000  80488  174504898</a:t>
            </a:r>
          </a:p>
          <a:p>
            <a:r>
              <a:rPr lang="en-GB" sz="1400">
                <a:solidFill>
                  <a:srgbClr val="000000"/>
                </a:solidFill>
              </a:rPr>
              <a:t>5 China        1999 212258 1272915272</a:t>
            </a:r>
          </a:p>
          <a:p>
            <a:r>
              <a:rPr lang="en-GB" sz="1400">
                <a:solidFill>
                  <a:srgbClr val="000000"/>
                </a:solidFill>
              </a:rPr>
              <a:t>6 China        2000 213766 1280428583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D5F75E9-CFAB-EB40-35AE-850A7F52BD5F}"/>
              </a:ext>
            </a:extLst>
          </p:cNvPr>
          <p:cNvSpPr txBox="1"/>
          <p:nvPr/>
        </p:nvSpPr>
        <p:spPr>
          <a:xfrm>
            <a:off x="5672499" y="1619858"/>
            <a:ext cx="4499942" cy="3108543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 wrap="square" rtlCol="0">
            <a:spAutoFit/>
          </a:bodyPr>
          <a:lstStyle>
            <a:defPPr>
              <a:defRPr lang="nl-BE"/>
            </a:defPPr>
            <a:lvl1pPr>
              <a:defRPr sz="1600">
                <a:solidFill>
                  <a:srgbClr val="2306F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r>
              <a:rPr lang="en-GB" sz="1400">
                <a:solidFill>
                  <a:srgbClr val="000000"/>
                </a:solidFill>
              </a:rPr>
              <a:t>   country      year type            count</a:t>
            </a:r>
          </a:p>
          <a:p>
            <a:r>
              <a:rPr lang="en-GB" sz="1400" i="1">
                <a:solidFill>
                  <a:srgbClr val="B7A9B6"/>
                </a:solidFill>
              </a:rPr>
              <a:t>   &lt;</a:t>
            </a:r>
            <a:r>
              <a:rPr lang="en-GB" sz="1400" i="1" err="1">
                <a:solidFill>
                  <a:srgbClr val="B7A9B6"/>
                </a:solidFill>
              </a:rPr>
              <a:t>chr</a:t>
            </a:r>
            <a:r>
              <a:rPr lang="en-GB" sz="1400" i="1">
                <a:solidFill>
                  <a:srgbClr val="B7A9B6"/>
                </a:solidFill>
              </a:rPr>
              <a:t>&gt;       &lt;int&gt; &lt;</a:t>
            </a:r>
            <a:r>
              <a:rPr lang="en-GB" sz="1400" i="1" err="1">
                <a:solidFill>
                  <a:srgbClr val="B7A9B6"/>
                </a:solidFill>
              </a:rPr>
              <a:t>chr</a:t>
            </a:r>
            <a:r>
              <a:rPr lang="en-GB" sz="1400" i="1">
                <a:solidFill>
                  <a:srgbClr val="B7A9B6"/>
                </a:solidFill>
              </a:rPr>
              <a:t>&gt;           &lt;int&gt;</a:t>
            </a:r>
          </a:p>
          <a:p>
            <a:r>
              <a:rPr lang="en-GB" sz="1400">
                <a:solidFill>
                  <a:srgbClr val="000000"/>
                </a:solidFill>
              </a:rPr>
              <a:t> 1 Afghanistan  1999 cases             745</a:t>
            </a:r>
          </a:p>
          <a:p>
            <a:r>
              <a:rPr lang="en-GB" sz="1400">
                <a:solidFill>
                  <a:srgbClr val="000000"/>
                </a:solidFill>
              </a:rPr>
              <a:t> 2 Afghanistan  1999 population   19987071</a:t>
            </a:r>
          </a:p>
          <a:p>
            <a:r>
              <a:rPr lang="en-GB" sz="1400">
                <a:solidFill>
                  <a:srgbClr val="000000"/>
                </a:solidFill>
              </a:rPr>
              <a:t> 3 Afghanistan  2000 cases            2666</a:t>
            </a:r>
          </a:p>
          <a:p>
            <a:r>
              <a:rPr lang="en-GB" sz="1400">
                <a:solidFill>
                  <a:srgbClr val="000000"/>
                </a:solidFill>
              </a:rPr>
              <a:t> 4 Afghanistan  2000 population   20595360</a:t>
            </a:r>
          </a:p>
          <a:p>
            <a:r>
              <a:rPr lang="en-GB" sz="1400">
                <a:solidFill>
                  <a:srgbClr val="000000"/>
                </a:solidFill>
              </a:rPr>
              <a:t> 5 Brazil       1999 cases           37737</a:t>
            </a:r>
          </a:p>
          <a:p>
            <a:r>
              <a:rPr lang="en-GB" sz="1400">
                <a:solidFill>
                  <a:srgbClr val="000000"/>
                </a:solidFill>
              </a:rPr>
              <a:t> 6 Brazil       1999 population  172006362</a:t>
            </a:r>
          </a:p>
          <a:p>
            <a:r>
              <a:rPr lang="en-GB" sz="1400">
                <a:solidFill>
                  <a:srgbClr val="000000"/>
                </a:solidFill>
              </a:rPr>
              <a:t> 7 Brazil       2000 cases           80488</a:t>
            </a:r>
          </a:p>
          <a:p>
            <a:r>
              <a:rPr lang="en-GB" sz="1400">
                <a:solidFill>
                  <a:srgbClr val="000000"/>
                </a:solidFill>
              </a:rPr>
              <a:t> 8 Brazil       2000 population  174504898</a:t>
            </a:r>
          </a:p>
          <a:p>
            <a:r>
              <a:rPr lang="en-GB" sz="1400">
                <a:solidFill>
                  <a:srgbClr val="000000"/>
                </a:solidFill>
              </a:rPr>
              <a:t> 9 China        1999 cases          212258</a:t>
            </a:r>
          </a:p>
          <a:p>
            <a:r>
              <a:rPr lang="en-GB" sz="1400">
                <a:solidFill>
                  <a:srgbClr val="000000"/>
                </a:solidFill>
              </a:rPr>
              <a:t>10 China        1999 population 1272915272</a:t>
            </a:r>
          </a:p>
          <a:p>
            <a:r>
              <a:rPr lang="en-GB" sz="1400">
                <a:solidFill>
                  <a:srgbClr val="000000"/>
                </a:solidFill>
              </a:rPr>
              <a:t>11 China        2000 cases          213766</a:t>
            </a:r>
          </a:p>
          <a:p>
            <a:r>
              <a:rPr lang="en-GB" sz="1400">
                <a:solidFill>
                  <a:srgbClr val="000000"/>
                </a:solidFill>
              </a:rPr>
              <a:t>12 China        2000 population 1280428583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33481F-46B6-A544-A757-E1FE4174962E}"/>
              </a:ext>
            </a:extLst>
          </p:cNvPr>
          <p:cNvSpPr txBox="1"/>
          <p:nvPr/>
        </p:nvSpPr>
        <p:spPr>
          <a:xfrm>
            <a:off x="822354" y="3832012"/>
            <a:ext cx="4059627" cy="1815882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 wrap="square" rtlCol="0">
            <a:spAutoFit/>
          </a:bodyPr>
          <a:lstStyle>
            <a:defPPr>
              <a:defRPr lang="nl-BE"/>
            </a:defPPr>
            <a:lvl1pPr>
              <a:defRPr sz="1600">
                <a:solidFill>
                  <a:srgbClr val="2306F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r>
              <a:rPr lang="en-GB" sz="1400">
                <a:solidFill>
                  <a:srgbClr val="000000"/>
                </a:solidFill>
              </a:rPr>
              <a:t>  country      year rate             </a:t>
            </a:r>
          </a:p>
          <a:p>
            <a:r>
              <a:rPr lang="en-GB" sz="1400" i="1">
                <a:solidFill>
                  <a:srgbClr val="B7A9B6"/>
                </a:solidFill>
              </a:rPr>
              <a:t>* &lt;chr&gt;       &lt;int&gt; &lt;chr&gt;            </a:t>
            </a:r>
          </a:p>
          <a:p>
            <a:r>
              <a:rPr lang="en-GB" sz="1400">
                <a:solidFill>
                  <a:srgbClr val="000000"/>
                </a:solidFill>
              </a:rPr>
              <a:t>1 Afghanistan  1999 745/19987071     </a:t>
            </a:r>
          </a:p>
          <a:p>
            <a:r>
              <a:rPr lang="en-GB" sz="1400">
                <a:solidFill>
                  <a:srgbClr val="000000"/>
                </a:solidFill>
              </a:rPr>
              <a:t>2 Afghanistan  2000 2666/20595360    </a:t>
            </a:r>
          </a:p>
          <a:p>
            <a:r>
              <a:rPr lang="en-GB" sz="1400">
                <a:solidFill>
                  <a:srgbClr val="000000"/>
                </a:solidFill>
              </a:rPr>
              <a:t>3 Brazil       1999 37737/172006362  </a:t>
            </a:r>
          </a:p>
          <a:p>
            <a:r>
              <a:rPr lang="en-GB" sz="1400">
                <a:solidFill>
                  <a:srgbClr val="000000"/>
                </a:solidFill>
              </a:rPr>
              <a:t>4 Brazil       2000 80488/174504898  </a:t>
            </a:r>
          </a:p>
          <a:p>
            <a:r>
              <a:rPr lang="en-GB" sz="1400">
                <a:solidFill>
                  <a:srgbClr val="000000"/>
                </a:solidFill>
              </a:rPr>
              <a:t>5 China        1999 212258/1272915272</a:t>
            </a:r>
          </a:p>
          <a:p>
            <a:r>
              <a:rPr lang="en-GB" sz="1400">
                <a:solidFill>
                  <a:srgbClr val="000000"/>
                </a:solidFill>
              </a:rPr>
              <a:t>6 China        2000 213766/1280428583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7997F4B-5BF7-3352-779D-32727EA03727}"/>
              </a:ext>
            </a:extLst>
          </p:cNvPr>
          <p:cNvSpPr txBox="1"/>
          <p:nvPr/>
        </p:nvSpPr>
        <p:spPr>
          <a:xfrm>
            <a:off x="8894973" y="5063120"/>
            <a:ext cx="3297027" cy="1169551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 wrap="square" rtlCol="0">
            <a:spAutoFit/>
          </a:bodyPr>
          <a:lstStyle>
            <a:defPPr>
              <a:defRPr lang="nl-BE"/>
            </a:defPPr>
            <a:lvl1pPr>
              <a:defRPr sz="1600">
                <a:solidFill>
                  <a:srgbClr val="2306F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r>
              <a:rPr lang="en-GB" sz="1400">
                <a:solidFill>
                  <a:srgbClr val="000000"/>
                </a:solidFill>
              </a:rPr>
              <a:t>  country     `1999` `2000`</a:t>
            </a:r>
          </a:p>
          <a:p>
            <a:r>
              <a:rPr lang="en-GB" sz="1400">
                <a:solidFill>
                  <a:srgbClr val="000000"/>
                </a:solidFill>
              </a:rPr>
              <a:t>* &lt;</a:t>
            </a:r>
            <a:r>
              <a:rPr lang="en-GB" sz="1400" err="1">
                <a:solidFill>
                  <a:srgbClr val="000000"/>
                </a:solidFill>
              </a:rPr>
              <a:t>chr</a:t>
            </a:r>
            <a:r>
              <a:rPr lang="en-GB" sz="1400">
                <a:solidFill>
                  <a:srgbClr val="000000"/>
                </a:solidFill>
              </a:rPr>
              <a:t>&gt;        &lt;int&gt;  &lt;int&gt;</a:t>
            </a:r>
          </a:p>
          <a:p>
            <a:r>
              <a:rPr lang="en-GB" sz="1400">
                <a:solidFill>
                  <a:srgbClr val="000000"/>
                </a:solidFill>
              </a:rPr>
              <a:t>1 Afghanistan    745   2666</a:t>
            </a:r>
          </a:p>
          <a:p>
            <a:r>
              <a:rPr lang="en-GB" sz="1400">
                <a:solidFill>
                  <a:srgbClr val="000000"/>
                </a:solidFill>
              </a:rPr>
              <a:t>2 Brazil       37737  80488</a:t>
            </a:r>
          </a:p>
          <a:p>
            <a:r>
              <a:rPr lang="en-GB" sz="1400">
                <a:solidFill>
                  <a:srgbClr val="000000"/>
                </a:solidFill>
              </a:rPr>
              <a:t>3 China       212258 213766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E0E00AD-52AD-A09F-A3FE-DD4239297FAF}"/>
              </a:ext>
            </a:extLst>
          </p:cNvPr>
          <p:cNvSpPr txBox="1"/>
          <p:nvPr/>
        </p:nvSpPr>
        <p:spPr>
          <a:xfrm>
            <a:off x="5214827" y="5063120"/>
            <a:ext cx="3680146" cy="1169551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 wrap="square" rtlCol="0">
            <a:spAutoFit/>
          </a:bodyPr>
          <a:lstStyle>
            <a:defPPr>
              <a:defRPr lang="nl-BE"/>
            </a:defPPr>
            <a:lvl1pPr>
              <a:defRPr sz="1600">
                <a:solidFill>
                  <a:srgbClr val="2306F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r>
              <a:rPr lang="en-GB" sz="1400">
                <a:solidFill>
                  <a:srgbClr val="000000"/>
                </a:solidFill>
              </a:rPr>
              <a:t>  country         `1999`     `2000`</a:t>
            </a:r>
          </a:p>
          <a:p>
            <a:r>
              <a:rPr lang="en-GB" sz="1400">
                <a:solidFill>
                  <a:srgbClr val="000000"/>
                </a:solidFill>
              </a:rPr>
              <a:t>* &lt;chr&gt;            &lt;int&gt;      &lt;int&gt;</a:t>
            </a:r>
          </a:p>
          <a:p>
            <a:r>
              <a:rPr lang="en-GB" sz="1400">
                <a:solidFill>
                  <a:srgbClr val="000000"/>
                </a:solidFill>
              </a:rPr>
              <a:t>1 Afghanistan   19987071   20595360</a:t>
            </a:r>
          </a:p>
          <a:p>
            <a:r>
              <a:rPr lang="en-GB" sz="1400">
                <a:solidFill>
                  <a:srgbClr val="000000"/>
                </a:solidFill>
              </a:rPr>
              <a:t>2 Brazil       172006362  174504898</a:t>
            </a:r>
          </a:p>
          <a:p>
            <a:r>
              <a:rPr lang="en-GB" sz="1400">
                <a:solidFill>
                  <a:srgbClr val="000000"/>
                </a:solidFill>
              </a:rPr>
              <a:t>3 China       1272915272 1280428583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ACA87372-0EF7-A9A6-59F7-3108C63BF6D4}"/>
              </a:ext>
            </a:extLst>
          </p:cNvPr>
          <p:cNvSpPr/>
          <p:nvPr/>
        </p:nvSpPr>
        <p:spPr>
          <a:xfrm>
            <a:off x="343542" y="1764131"/>
            <a:ext cx="320511" cy="2909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BE"/>
              <a:t>1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4E9EC5AE-7A7F-8ACC-D956-5C2ED95222D9}"/>
              </a:ext>
            </a:extLst>
          </p:cNvPr>
          <p:cNvSpPr/>
          <p:nvPr/>
        </p:nvSpPr>
        <p:spPr>
          <a:xfrm>
            <a:off x="5137196" y="1613118"/>
            <a:ext cx="320511" cy="31939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BE"/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B572E41-7BB2-CF80-4AD8-386038DCB2C6}"/>
              </a:ext>
            </a:extLst>
          </p:cNvPr>
          <p:cNvSpPr/>
          <p:nvPr/>
        </p:nvSpPr>
        <p:spPr>
          <a:xfrm>
            <a:off x="343542" y="3915732"/>
            <a:ext cx="320511" cy="2909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BE"/>
              <a:t>3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0A21350-EA48-9306-4646-C2FBE480B532}"/>
              </a:ext>
            </a:extLst>
          </p:cNvPr>
          <p:cNvSpPr/>
          <p:nvPr/>
        </p:nvSpPr>
        <p:spPr>
          <a:xfrm>
            <a:off x="5214827" y="4634573"/>
            <a:ext cx="320511" cy="2909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BE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7747911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B9B9DB0-AD21-954A-9235-C50924886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noProof="0" dirty="0"/>
              <a:t>Each variable must have its own column</a:t>
            </a:r>
            <a:endParaRPr lang="en-US" noProof="0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1E13728-9FBE-CB41-B00B-C935CF2873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6355" y="1984527"/>
            <a:ext cx="11291048" cy="4626069"/>
          </a:xfrm>
          <a:ln>
            <a:noFill/>
          </a:ln>
        </p:spPr>
        <p:txBody>
          <a:bodyPr lIns="0" rIns="0">
            <a:normAutofit/>
          </a:bodyPr>
          <a:lstStyle/>
          <a:p>
            <a:pPr marL="0" indent="0">
              <a:buNone/>
            </a:pPr>
            <a:endParaRPr lang="en-US" sz="2000" noProof="0" dirty="0"/>
          </a:p>
          <a:p>
            <a:pPr marL="0" indent="0">
              <a:buNone/>
            </a:pPr>
            <a:endParaRPr lang="en-US" sz="2000" noProof="0" dirty="0"/>
          </a:p>
          <a:p>
            <a:pPr marL="0" indent="0">
              <a:buNone/>
            </a:pPr>
            <a:endParaRPr lang="en-US" sz="2000" noProof="0" dirty="0"/>
          </a:p>
          <a:p>
            <a:pPr marL="0" indent="0">
              <a:buNone/>
            </a:pPr>
            <a:br>
              <a:rPr lang="en-US" sz="2000" noProof="0" dirty="0"/>
            </a:br>
            <a:endParaRPr lang="en-US" sz="2000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FDF702-68FC-F645-8BB5-B31E03D26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19</a:t>
            </a:fld>
            <a:endParaRPr lang="nl-BE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6CE32B8-8E72-944F-B532-D6287AB42CE7}"/>
              </a:ext>
            </a:extLst>
          </p:cNvPr>
          <p:cNvSpPr txBox="1"/>
          <p:nvPr/>
        </p:nvSpPr>
        <p:spPr>
          <a:xfrm>
            <a:off x="1149531" y="32657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BE"/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228986BC-6F8D-7144-97D7-FB57AE01933F}"/>
              </a:ext>
            </a:extLst>
          </p:cNvPr>
          <p:cNvSpPr txBox="1">
            <a:spLocks/>
          </p:cNvSpPr>
          <p:nvPr/>
        </p:nvSpPr>
        <p:spPr>
          <a:xfrm>
            <a:off x="4072589" y="1152644"/>
            <a:ext cx="4064399" cy="4428000"/>
          </a:xfrm>
          <a:prstGeom prst="rect">
            <a:avLst/>
          </a:prstGeom>
          <a:ln>
            <a:noFill/>
          </a:ln>
        </p:spPr>
        <p:txBody>
          <a:bodyPr vert="horz" lIns="0" tIns="252000" rIns="0" bIns="144000" rtlCol="0">
            <a:normAutofit/>
          </a:bodyPr>
          <a:lstStyle>
            <a:lvl1pPr marL="323850" indent="-32385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Pct val="90000"/>
              <a:buFont typeface="Verdana" pitchFamily="34" charset="0"/>
              <a:buChar char="•"/>
              <a:defRPr sz="3000" kern="120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1pPr>
            <a:lvl2pPr marL="723900" indent="-3683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Font typeface="Arial" pitchFamily="34" charset="0"/>
              <a:buChar char="−"/>
              <a:defRPr sz="2500" kern="120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2pPr>
            <a:lvl3pPr marL="982663" indent="-258763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Font typeface="Arial" pitchFamily="34" charset="0"/>
              <a:buChar char="•"/>
              <a:defRPr sz="2300" kern="120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3pPr>
            <a:lvl4pPr marL="1255713" indent="-27305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Font typeface="Arial" pitchFamily="34" charset="0"/>
              <a:buChar char="»"/>
              <a:defRPr sz="2000" kern="120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4pPr>
            <a:lvl5pPr marL="1609725" indent="-258763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Font typeface="Arial" pitchFamily="34" charset="0"/>
              <a:buNone/>
              <a:defRPr sz="1700" kern="120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Verdana" pitchFamily="34" charset="0"/>
              <a:buNone/>
            </a:pPr>
            <a:endParaRPr lang="en-BE"/>
          </a:p>
          <a:p>
            <a:pPr marL="0" indent="0">
              <a:buFont typeface="Verdana" pitchFamily="34" charset="0"/>
              <a:buNone/>
            </a:pPr>
            <a:endParaRPr lang="en-BE"/>
          </a:p>
          <a:p>
            <a:pPr marL="0" indent="0">
              <a:buFont typeface="Verdana" pitchFamily="34" charset="0"/>
              <a:buNone/>
            </a:pPr>
            <a:endParaRPr lang="en-BE"/>
          </a:p>
          <a:p>
            <a:pPr marL="0" indent="0">
              <a:buFont typeface="Verdana" pitchFamily="34" charset="0"/>
              <a:buNone/>
            </a:pPr>
            <a:endParaRPr lang="en-BE"/>
          </a:p>
          <a:p>
            <a:pPr marL="0" indent="0">
              <a:buFont typeface="Verdana" pitchFamily="34" charset="0"/>
              <a:buNone/>
            </a:pPr>
            <a:br>
              <a:rPr lang="en-BE"/>
            </a:br>
            <a:endParaRPr lang="en-BE"/>
          </a:p>
        </p:txBody>
      </p: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4163AFD7-B9F8-AC47-977D-C58A07A6E9C0}"/>
              </a:ext>
            </a:extLst>
          </p:cNvPr>
          <p:cNvSpPr txBox="1">
            <a:spLocks/>
          </p:cNvSpPr>
          <p:nvPr/>
        </p:nvSpPr>
        <p:spPr>
          <a:xfrm>
            <a:off x="8136389" y="1152000"/>
            <a:ext cx="4064399" cy="4428000"/>
          </a:xfrm>
          <a:prstGeom prst="rect">
            <a:avLst/>
          </a:prstGeom>
          <a:ln>
            <a:noFill/>
          </a:ln>
        </p:spPr>
        <p:txBody>
          <a:bodyPr vert="horz" lIns="0" tIns="252000" rIns="0" bIns="144000" rtlCol="0">
            <a:normAutofit/>
          </a:bodyPr>
          <a:lstStyle>
            <a:lvl1pPr marL="323850" indent="-32385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Pct val="90000"/>
              <a:buFont typeface="Verdana" pitchFamily="34" charset="0"/>
              <a:buChar char="•"/>
              <a:defRPr sz="3000" kern="120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1pPr>
            <a:lvl2pPr marL="723900" indent="-3683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Font typeface="Arial" pitchFamily="34" charset="0"/>
              <a:buChar char="−"/>
              <a:defRPr sz="2500" kern="120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2pPr>
            <a:lvl3pPr marL="982663" indent="-258763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Font typeface="Arial" pitchFamily="34" charset="0"/>
              <a:buChar char="•"/>
              <a:defRPr sz="2300" kern="120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3pPr>
            <a:lvl4pPr marL="1255713" indent="-27305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Font typeface="Arial" pitchFamily="34" charset="0"/>
              <a:buChar char="»"/>
              <a:defRPr sz="2000" kern="120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4pPr>
            <a:lvl5pPr marL="1609725" indent="-258763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Font typeface="Arial" pitchFamily="34" charset="0"/>
              <a:buNone/>
              <a:defRPr sz="1700" kern="120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Verdana" pitchFamily="34" charset="0"/>
              <a:buNone/>
            </a:pPr>
            <a:endParaRPr lang="en-BE"/>
          </a:p>
          <a:p>
            <a:pPr marL="0" indent="0">
              <a:buFont typeface="Verdana" pitchFamily="34" charset="0"/>
              <a:buNone/>
            </a:pPr>
            <a:endParaRPr lang="en-BE"/>
          </a:p>
          <a:p>
            <a:pPr marL="0" indent="0">
              <a:buFont typeface="Verdana" pitchFamily="34" charset="0"/>
              <a:buNone/>
            </a:pPr>
            <a:endParaRPr lang="en-BE"/>
          </a:p>
          <a:p>
            <a:pPr marL="0" indent="0">
              <a:buFont typeface="Verdana" pitchFamily="34" charset="0"/>
              <a:buNone/>
            </a:pPr>
            <a:endParaRPr lang="en-BE"/>
          </a:p>
          <a:p>
            <a:pPr marL="0" indent="0">
              <a:buFont typeface="Verdana" pitchFamily="34" charset="0"/>
              <a:buNone/>
            </a:pPr>
            <a:br>
              <a:rPr lang="en-BE"/>
            </a:br>
            <a:endParaRPr lang="en-BE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7CB46E8-93C2-C044-BD2E-9F5BBD277297}"/>
              </a:ext>
            </a:extLst>
          </p:cNvPr>
          <p:cNvSpPr txBox="1"/>
          <p:nvPr/>
        </p:nvSpPr>
        <p:spPr>
          <a:xfrm>
            <a:off x="532505" y="1678107"/>
            <a:ext cx="4004425" cy="1815882"/>
          </a:xfrm>
          <a:prstGeom prst="rect">
            <a:avLst/>
          </a:prstGeom>
          <a:solidFill>
            <a:srgbClr val="0C720B">
              <a:alpha val="25490"/>
            </a:srgbClr>
          </a:solidFill>
          <a:ln w="12700">
            <a:solidFill>
              <a:srgbClr val="000000"/>
            </a:solidFill>
          </a:ln>
        </p:spPr>
        <p:txBody>
          <a:bodyPr wrap="square" rtlCol="0">
            <a:spAutoFit/>
          </a:bodyPr>
          <a:lstStyle>
            <a:defPPr>
              <a:defRPr lang="nl-BE"/>
            </a:defPPr>
            <a:lvl1pPr>
              <a:defRPr sz="1600">
                <a:solidFill>
                  <a:srgbClr val="2306F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r>
              <a:rPr lang="en-GB" sz="1400">
                <a:solidFill>
                  <a:srgbClr val="000000"/>
                </a:solidFill>
              </a:rPr>
              <a:t>  country      year  cases population</a:t>
            </a:r>
          </a:p>
          <a:p>
            <a:r>
              <a:rPr lang="en-GB" sz="1400" i="1">
                <a:solidFill>
                  <a:srgbClr val="B7A9B6"/>
                </a:solidFill>
              </a:rPr>
              <a:t>  &lt;chr&gt;       &lt;int&gt;  &lt;int&gt;      &lt;int&gt;</a:t>
            </a:r>
          </a:p>
          <a:p>
            <a:r>
              <a:rPr lang="en-GB" sz="1400">
                <a:solidFill>
                  <a:srgbClr val="000000"/>
                </a:solidFill>
              </a:rPr>
              <a:t>1 Afghanistan  1999    745   19987071</a:t>
            </a:r>
          </a:p>
          <a:p>
            <a:r>
              <a:rPr lang="en-GB" sz="1400">
                <a:solidFill>
                  <a:srgbClr val="000000"/>
                </a:solidFill>
              </a:rPr>
              <a:t>2 Afghanistan  2000   2666   20595360</a:t>
            </a:r>
          </a:p>
          <a:p>
            <a:r>
              <a:rPr lang="en-GB" sz="1400">
                <a:solidFill>
                  <a:srgbClr val="000000"/>
                </a:solidFill>
              </a:rPr>
              <a:t>3 Brazil       1999  37737  172006362</a:t>
            </a:r>
          </a:p>
          <a:p>
            <a:r>
              <a:rPr lang="en-GB" sz="1400">
                <a:solidFill>
                  <a:srgbClr val="000000"/>
                </a:solidFill>
              </a:rPr>
              <a:t>4 Brazil       2000  80488  174504898</a:t>
            </a:r>
          </a:p>
          <a:p>
            <a:r>
              <a:rPr lang="en-GB" sz="1400">
                <a:solidFill>
                  <a:srgbClr val="000000"/>
                </a:solidFill>
              </a:rPr>
              <a:t>5 China        1999 212258 1272915272</a:t>
            </a:r>
          </a:p>
          <a:p>
            <a:r>
              <a:rPr lang="en-GB" sz="1400">
                <a:solidFill>
                  <a:srgbClr val="000000"/>
                </a:solidFill>
              </a:rPr>
              <a:t>6 China        2000 213766 1280428583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B74D426-4CA0-6D44-AA36-997D791E29E4}"/>
              </a:ext>
            </a:extLst>
          </p:cNvPr>
          <p:cNvSpPr txBox="1"/>
          <p:nvPr/>
        </p:nvSpPr>
        <p:spPr>
          <a:xfrm>
            <a:off x="4947606" y="1646932"/>
            <a:ext cx="4499942" cy="3108543"/>
          </a:xfrm>
          <a:prstGeom prst="rect">
            <a:avLst/>
          </a:prstGeom>
          <a:solidFill>
            <a:srgbClr val="EC4B2E">
              <a:alpha val="24706"/>
            </a:srgbClr>
          </a:solidFill>
          <a:ln w="12700">
            <a:solidFill>
              <a:srgbClr val="000000"/>
            </a:solidFill>
          </a:ln>
        </p:spPr>
        <p:txBody>
          <a:bodyPr wrap="square" rtlCol="0">
            <a:spAutoFit/>
          </a:bodyPr>
          <a:lstStyle>
            <a:defPPr>
              <a:defRPr lang="nl-BE"/>
            </a:defPPr>
            <a:lvl1pPr>
              <a:defRPr sz="1600">
                <a:solidFill>
                  <a:srgbClr val="2306F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r>
              <a:rPr lang="en-GB" sz="1400">
                <a:solidFill>
                  <a:srgbClr val="000000"/>
                </a:solidFill>
              </a:rPr>
              <a:t>   country      year type            count</a:t>
            </a:r>
          </a:p>
          <a:p>
            <a:r>
              <a:rPr lang="en-GB" sz="1400" i="1">
                <a:solidFill>
                  <a:srgbClr val="B7A9B6"/>
                </a:solidFill>
              </a:rPr>
              <a:t>   &lt;chr&gt;       &lt;int&gt; &lt;chr&gt;           &lt;int&gt;</a:t>
            </a:r>
          </a:p>
          <a:p>
            <a:r>
              <a:rPr lang="en-GB" sz="1400">
                <a:solidFill>
                  <a:srgbClr val="000000"/>
                </a:solidFill>
              </a:rPr>
              <a:t> 1 Afghanistan  1999 cases             745</a:t>
            </a:r>
          </a:p>
          <a:p>
            <a:r>
              <a:rPr lang="en-GB" sz="1400">
                <a:solidFill>
                  <a:srgbClr val="000000"/>
                </a:solidFill>
              </a:rPr>
              <a:t> 2 Afghanistan  1999 population   19987071</a:t>
            </a:r>
          </a:p>
          <a:p>
            <a:r>
              <a:rPr lang="en-GB" sz="1400">
                <a:solidFill>
                  <a:srgbClr val="000000"/>
                </a:solidFill>
              </a:rPr>
              <a:t> 3 Afghanistan  2000 cases            2666</a:t>
            </a:r>
          </a:p>
          <a:p>
            <a:r>
              <a:rPr lang="en-GB" sz="1400">
                <a:solidFill>
                  <a:srgbClr val="000000"/>
                </a:solidFill>
              </a:rPr>
              <a:t> 4 Afghanistan  2000 population   20595360</a:t>
            </a:r>
          </a:p>
          <a:p>
            <a:r>
              <a:rPr lang="en-GB" sz="1400">
                <a:solidFill>
                  <a:srgbClr val="000000"/>
                </a:solidFill>
              </a:rPr>
              <a:t> 5 Brazil       1999 cases           37737</a:t>
            </a:r>
          </a:p>
          <a:p>
            <a:r>
              <a:rPr lang="en-GB" sz="1400">
                <a:solidFill>
                  <a:srgbClr val="000000"/>
                </a:solidFill>
              </a:rPr>
              <a:t> 6 Brazil       1999 population  172006362</a:t>
            </a:r>
          </a:p>
          <a:p>
            <a:r>
              <a:rPr lang="en-GB" sz="1400">
                <a:solidFill>
                  <a:srgbClr val="000000"/>
                </a:solidFill>
              </a:rPr>
              <a:t> 7 Brazil       2000 cases           80488</a:t>
            </a:r>
          </a:p>
          <a:p>
            <a:r>
              <a:rPr lang="en-GB" sz="1400">
                <a:solidFill>
                  <a:srgbClr val="000000"/>
                </a:solidFill>
              </a:rPr>
              <a:t> 8 Brazil       2000 population  174504898</a:t>
            </a:r>
          </a:p>
          <a:p>
            <a:r>
              <a:rPr lang="en-GB" sz="1400">
                <a:solidFill>
                  <a:srgbClr val="000000"/>
                </a:solidFill>
              </a:rPr>
              <a:t> 9 China        1999 cases          212258</a:t>
            </a:r>
          </a:p>
          <a:p>
            <a:r>
              <a:rPr lang="en-GB" sz="1400">
                <a:solidFill>
                  <a:srgbClr val="000000"/>
                </a:solidFill>
              </a:rPr>
              <a:t>10 China        1999 population 1272915272</a:t>
            </a:r>
          </a:p>
          <a:p>
            <a:r>
              <a:rPr lang="en-GB" sz="1400">
                <a:solidFill>
                  <a:srgbClr val="000000"/>
                </a:solidFill>
              </a:rPr>
              <a:t>11 China        2000 cases          213766</a:t>
            </a:r>
          </a:p>
          <a:p>
            <a:r>
              <a:rPr lang="en-GB" sz="1400">
                <a:solidFill>
                  <a:srgbClr val="000000"/>
                </a:solidFill>
              </a:rPr>
              <a:t>12 China        2000 population 1280428583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E0E57CD-09A1-4E40-837D-0BC33DDBFCA1}"/>
              </a:ext>
            </a:extLst>
          </p:cNvPr>
          <p:cNvSpPr txBox="1"/>
          <p:nvPr/>
        </p:nvSpPr>
        <p:spPr>
          <a:xfrm>
            <a:off x="477303" y="3980397"/>
            <a:ext cx="4059627" cy="1815882"/>
          </a:xfrm>
          <a:prstGeom prst="rect">
            <a:avLst/>
          </a:prstGeom>
          <a:solidFill>
            <a:srgbClr val="EC4B2E">
              <a:alpha val="24706"/>
            </a:srgbClr>
          </a:solidFill>
          <a:ln w="12700">
            <a:solidFill>
              <a:srgbClr val="000000"/>
            </a:solidFill>
          </a:ln>
        </p:spPr>
        <p:txBody>
          <a:bodyPr wrap="square" rtlCol="0">
            <a:spAutoFit/>
          </a:bodyPr>
          <a:lstStyle>
            <a:defPPr>
              <a:defRPr lang="nl-BE"/>
            </a:defPPr>
            <a:lvl1pPr>
              <a:defRPr sz="1600">
                <a:solidFill>
                  <a:srgbClr val="2306F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r>
              <a:rPr lang="en-GB" sz="1400">
                <a:solidFill>
                  <a:srgbClr val="000000"/>
                </a:solidFill>
              </a:rPr>
              <a:t>  country      year rate             </a:t>
            </a:r>
          </a:p>
          <a:p>
            <a:r>
              <a:rPr lang="en-GB" sz="1400" i="1">
                <a:solidFill>
                  <a:srgbClr val="B7A9B6"/>
                </a:solidFill>
              </a:rPr>
              <a:t>* &lt;</a:t>
            </a:r>
            <a:r>
              <a:rPr lang="en-GB" sz="1400" i="1" err="1">
                <a:solidFill>
                  <a:srgbClr val="B7A9B6"/>
                </a:solidFill>
              </a:rPr>
              <a:t>chr</a:t>
            </a:r>
            <a:r>
              <a:rPr lang="en-GB" sz="1400" i="1">
                <a:solidFill>
                  <a:srgbClr val="B7A9B6"/>
                </a:solidFill>
              </a:rPr>
              <a:t>&gt;       &lt;int&gt; &lt;</a:t>
            </a:r>
            <a:r>
              <a:rPr lang="en-GB" sz="1400" i="1" err="1">
                <a:solidFill>
                  <a:srgbClr val="B7A9B6"/>
                </a:solidFill>
              </a:rPr>
              <a:t>chr</a:t>
            </a:r>
            <a:r>
              <a:rPr lang="en-GB" sz="1400" i="1">
                <a:solidFill>
                  <a:srgbClr val="B7A9B6"/>
                </a:solidFill>
              </a:rPr>
              <a:t>&gt;            </a:t>
            </a:r>
          </a:p>
          <a:p>
            <a:r>
              <a:rPr lang="en-GB" sz="1400">
                <a:solidFill>
                  <a:srgbClr val="000000"/>
                </a:solidFill>
              </a:rPr>
              <a:t>1 Afghanistan  1999 745/19987071     </a:t>
            </a:r>
          </a:p>
          <a:p>
            <a:r>
              <a:rPr lang="en-GB" sz="1400">
                <a:solidFill>
                  <a:srgbClr val="000000"/>
                </a:solidFill>
              </a:rPr>
              <a:t>2 Afghanistan  2000 2666/20595360    </a:t>
            </a:r>
          </a:p>
          <a:p>
            <a:r>
              <a:rPr lang="en-GB" sz="1400">
                <a:solidFill>
                  <a:srgbClr val="000000"/>
                </a:solidFill>
              </a:rPr>
              <a:t>3 Brazil       1999 37737/172006362  </a:t>
            </a:r>
          </a:p>
          <a:p>
            <a:r>
              <a:rPr lang="en-GB" sz="1400">
                <a:solidFill>
                  <a:srgbClr val="000000"/>
                </a:solidFill>
              </a:rPr>
              <a:t>4 Brazil       2000 80488/174504898  </a:t>
            </a:r>
          </a:p>
          <a:p>
            <a:r>
              <a:rPr lang="en-GB" sz="1400">
                <a:solidFill>
                  <a:srgbClr val="000000"/>
                </a:solidFill>
              </a:rPr>
              <a:t>5 China        1999 212258/1272915272</a:t>
            </a:r>
          </a:p>
          <a:p>
            <a:r>
              <a:rPr lang="en-GB" sz="1400">
                <a:solidFill>
                  <a:srgbClr val="000000"/>
                </a:solidFill>
              </a:rPr>
              <a:t>6 China        2000 213766/1280428583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C77FA09-48F4-E84D-834D-74A2AC10D15D}"/>
              </a:ext>
            </a:extLst>
          </p:cNvPr>
          <p:cNvSpPr txBox="1"/>
          <p:nvPr/>
        </p:nvSpPr>
        <p:spPr>
          <a:xfrm>
            <a:off x="8571898" y="5127785"/>
            <a:ext cx="3297027" cy="1169551"/>
          </a:xfrm>
          <a:prstGeom prst="rect">
            <a:avLst/>
          </a:prstGeom>
          <a:solidFill>
            <a:srgbClr val="EC4B2E">
              <a:alpha val="24706"/>
            </a:srgbClr>
          </a:solidFill>
          <a:ln w="12700">
            <a:solidFill>
              <a:srgbClr val="000000"/>
            </a:solidFill>
          </a:ln>
        </p:spPr>
        <p:txBody>
          <a:bodyPr wrap="square" rtlCol="0">
            <a:spAutoFit/>
          </a:bodyPr>
          <a:lstStyle>
            <a:defPPr>
              <a:defRPr lang="nl-BE"/>
            </a:defPPr>
            <a:lvl1pPr>
              <a:defRPr sz="1600">
                <a:solidFill>
                  <a:srgbClr val="2306F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r>
              <a:rPr lang="en-GB" sz="1400">
                <a:solidFill>
                  <a:srgbClr val="000000"/>
                </a:solidFill>
              </a:rPr>
              <a:t>  country     `1999` `2000`</a:t>
            </a:r>
          </a:p>
          <a:p>
            <a:r>
              <a:rPr lang="en-GB" sz="1400">
                <a:solidFill>
                  <a:srgbClr val="000000"/>
                </a:solidFill>
              </a:rPr>
              <a:t>* &lt;</a:t>
            </a:r>
            <a:r>
              <a:rPr lang="en-GB" sz="1400" err="1">
                <a:solidFill>
                  <a:srgbClr val="000000"/>
                </a:solidFill>
              </a:rPr>
              <a:t>chr</a:t>
            </a:r>
            <a:r>
              <a:rPr lang="en-GB" sz="1400">
                <a:solidFill>
                  <a:srgbClr val="000000"/>
                </a:solidFill>
              </a:rPr>
              <a:t>&gt;        &lt;int&gt;  &lt;int&gt;</a:t>
            </a:r>
          </a:p>
          <a:p>
            <a:r>
              <a:rPr lang="en-GB" sz="1400">
                <a:solidFill>
                  <a:srgbClr val="000000"/>
                </a:solidFill>
              </a:rPr>
              <a:t>1 Afghanistan    745   2666</a:t>
            </a:r>
          </a:p>
          <a:p>
            <a:r>
              <a:rPr lang="en-GB" sz="1400">
                <a:solidFill>
                  <a:srgbClr val="000000"/>
                </a:solidFill>
              </a:rPr>
              <a:t>2 Brazil       37737  80488</a:t>
            </a:r>
          </a:p>
          <a:p>
            <a:r>
              <a:rPr lang="en-GB" sz="1400">
                <a:solidFill>
                  <a:srgbClr val="000000"/>
                </a:solidFill>
              </a:rPr>
              <a:t>3 China       212258 213766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16D50CB-C088-554F-B589-AF3DFE138529}"/>
              </a:ext>
            </a:extLst>
          </p:cNvPr>
          <p:cNvSpPr txBox="1"/>
          <p:nvPr/>
        </p:nvSpPr>
        <p:spPr>
          <a:xfrm>
            <a:off x="4891752" y="5127786"/>
            <a:ext cx="3680146" cy="1169551"/>
          </a:xfrm>
          <a:prstGeom prst="rect">
            <a:avLst/>
          </a:prstGeom>
          <a:solidFill>
            <a:srgbClr val="EC4B2E">
              <a:alpha val="24706"/>
            </a:srgbClr>
          </a:solidFill>
          <a:ln w="12700">
            <a:solidFill>
              <a:srgbClr val="000000"/>
            </a:solidFill>
          </a:ln>
        </p:spPr>
        <p:txBody>
          <a:bodyPr wrap="square" rtlCol="0">
            <a:spAutoFit/>
          </a:bodyPr>
          <a:lstStyle>
            <a:defPPr>
              <a:defRPr lang="nl-BE"/>
            </a:defPPr>
            <a:lvl1pPr>
              <a:defRPr sz="1600">
                <a:solidFill>
                  <a:srgbClr val="2306F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r>
              <a:rPr lang="en-GB" sz="1400">
                <a:solidFill>
                  <a:srgbClr val="000000"/>
                </a:solidFill>
              </a:rPr>
              <a:t>  country         `1999`     `2000`</a:t>
            </a:r>
          </a:p>
          <a:p>
            <a:r>
              <a:rPr lang="en-GB" sz="1400">
                <a:solidFill>
                  <a:srgbClr val="000000"/>
                </a:solidFill>
              </a:rPr>
              <a:t>* &lt;</a:t>
            </a:r>
            <a:r>
              <a:rPr lang="en-GB" sz="1400" err="1">
                <a:solidFill>
                  <a:srgbClr val="000000"/>
                </a:solidFill>
              </a:rPr>
              <a:t>chr</a:t>
            </a:r>
            <a:r>
              <a:rPr lang="en-GB" sz="1400">
                <a:solidFill>
                  <a:srgbClr val="000000"/>
                </a:solidFill>
              </a:rPr>
              <a:t>&gt;            &lt;int&gt;      &lt;int&gt;</a:t>
            </a:r>
          </a:p>
          <a:p>
            <a:r>
              <a:rPr lang="en-GB" sz="1400">
                <a:solidFill>
                  <a:srgbClr val="000000"/>
                </a:solidFill>
              </a:rPr>
              <a:t>1 Afghanistan   19987071   20595360</a:t>
            </a:r>
          </a:p>
          <a:p>
            <a:r>
              <a:rPr lang="en-GB" sz="1400">
                <a:solidFill>
                  <a:srgbClr val="000000"/>
                </a:solidFill>
              </a:rPr>
              <a:t>2 Brazil       172006362  174504898</a:t>
            </a:r>
          </a:p>
          <a:p>
            <a:r>
              <a:rPr lang="en-GB" sz="1400">
                <a:solidFill>
                  <a:srgbClr val="000000"/>
                </a:solidFill>
              </a:rPr>
              <a:t>3 China       1272915272 1280428583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916F1C5-0C9E-0A42-A4E6-BCACFFB2F8DB}"/>
              </a:ext>
            </a:extLst>
          </p:cNvPr>
          <p:cNvSpPr txBox="1"/>
          <p:nvPr/>
        </p:nvSpPr>
        <p:spPr>
          <a:xfrm>
            <a:off x="415679" y="5762666"/>
            <a:ext cx="51125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sz="1600">
                <a:solidFill>
                  <a:srgbClr val="FF0000"/>
                </a:solidFill>
              </a:rPr>
              <a:t>One column contains two variables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E69BEA0-A016-2B47-90BF-92316CD20613}"/>
              </a:ext>
            </a:extLst>
          </p:cNvPr>
          <p:cNvSpPr txBox="1"/>
          <p:nvPr/>
        </p:nvSpPr>
        <p:spPr>
          <a:xfrm>
            <a:off x="4847827" y="4842664"/>
            <a:ext cx="702109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sz="1600">
                <a:solidFill>
                  <a:srgbClr val="FF0000"/>
                </a:solidFill>
              </a:rPr>
              <a:t>1999 and 2000 are not variables, they are values!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ECC01DB-97C0-B746-AF1C-2B4DB7FBBA00}"/>
              </a:ext>
            </a:extLst>
          </p:cNvPr>
          <p:cNvSpPr txBox="1"/>
          <p:nvPr/>
        </p:nvSpPr>
        <p:spPr>
          <a:xfrm>
            <a:off x="9563706" y="1892070"/>
            <a:ext cx="186184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sz="1600">
                <a:solidFill>
                  <a:srgbClr val="FF0000"/>
                </a:solidFill>
              </a:rPr>
              <a:t>type and count are </a:t>
            </a:r>
            <a:r>
              <a:rPr lang="nl-BE" sz="1600">
                <a:solidFill>
                  <a:srgbClr val="FF0000"/>
                </a:solidFill>
              </a:rPr>
              <a:t>no </a:t>
            </a:r>
            <a:r>
              <a:rPr lang="nl-BE" sz="1600" err="1">
                <a:solidFill>
                  <a:srgbClr val="FF0000"/>
                </a:solidFill>
              </a:rPr>
              <a:t>true</a:t>
            </a:r>
            <a:r>
              <a:rPr lang="nl-BE" sz="1600">
                <a:solidFill>
                  <a:srgbClr val="FF0000"/>
                </a:solidFill>
              </a:rPr>
              <a:t> variables </a:t>
            </a:r>
            <a:br>
              <a:rPr lang="nl-BE" sz="1600">
                <a:solidFill>
                  <a:srgbClr val="FF0000"/>
                </a:solidFill>
              </a:rPr>
            </a:br>
            <a:r>
              <a:rPr lang="nl-BE" sz="1600">
                <a:solidFill>
                  <a:srgbClr val="FF0000"/>
                </a:solidFill>
              </a:rPr>
              <a:t>(= </a:t>
            </a:r>
            <a:r>
              <a:rPr lang="nl-BE" sz="1600" err="1">
                <a:solidFill>
                  <a:srgbClr val="FF0000"/>
                </a:solidFill>
              </a:rPr>
              <a:t>characteristics</a:t>
            </a:r>
            <a:r>
              <a:rPr lang="nl-BE" sz="1600">
                <a:solidFill>
                  <a:srgbClr val="FF0000"/>
                </a:solidFill>
              </a:rPr>
              <a:t> of </a:t>
            </a:r>
            <a:r>
              <a:rPr lang="nl-BE" sz="1600" err="1">
                <a:solidFill>
                  <a:srgbClr val="FF0000"/>
                </a:solidFill>
              </a:rPr>
              <a:t>the</a:t>
            </a:r>
            <a:r>
              <a:rPr lang="nl-BE" sz="1600">
                <a:solidFill>
                  <a:srgbClr val="FF0000"/>
                </a:solidFill>
              </a:rPr>
              <a:t> </a:t>
            </a:r>
            <a:r>
              <a:rPr lang="nl-BE" sz="1600" err="1">
                <a:solidFill>
                  <a:srgbClr val="FF0000"/>
                </a:solidFill>
              </a:rPr>
              <a:t>observation</a:t>
            </a:r>
            <a:r>
              <a:rPr lang="nl-BE" sz="1600">
                <a:solidFill>
                  <a:srgbClr val="FF0000"/>
                </a:solidFill>
              </a:rPr>
              <a:t> object)</a:t>
            </a:r>
          </a:p>
        </p:txBody>
      </p:sp>
    </p:spTree>
    <p:extLst>
      <p:ext uri="{BB962C8B-B14F-4D97-AF65-F5344CB8AC3E}">
        <p14:creationId xmlns:p14="http://schemas.microsoft.com/office/powerpoint/2010/main" val="4126582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943F21F-B143-7BEB-7A2B-FF280F7F5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noProof="0" dirty="0"/>
              <a:t>Does each observation have its own row?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70B171-9888-627F-53B1-A676AC91C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20</a:t>
            </a:fld>
            <a:endParaRPr lang="nl-B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C7D404-5096-5571-8D50-9D758D701440}"/>
              </a:ext>
            </a:extLst>
          </p:cNvPr>
          <p:cNvSpPr txBox="1"/>
          <p:nvPr/>
        </p:nvSpPr>
        <p:spPr>
          <a:xfrm>
            <a:off x="822354" y="1613118"/>
            <a:ext cx="3949221" cy="1815882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 wrap="square" rtlCol="0">
            <a:spAutoFit/>
          </a:bodyPr>
          <a:lstStyle>
            <a:defPPr>
              <a:defRPr lang="nl-BE"/>
            </a:defPPr>
            <a:lvl1pPr>
              <a:defRPr sz="1600">
                <a:solidFill>
                  <a:srgbClr val="2306F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r>
              <a:rPr lang="en-GB" sz="1400">
                <a:solidFill>
                  <a:srgbClr val="000000"/>
                </a:solidFill>
              </a:rPr>
              <a:t>  country      year  cases population</a:t>
            </a:r>
          </a:p>
          <a:p>
            <a:r>
              <a:rPr lang="en-GB" sz="1400" i="1">
                <a:solidFill>
                  <a:srgbClr val="B7A9B6"/>
                </a:solidFill>
              </a:rPr>
              <a:t>  &lt;chr&gt;       &lt;int&gt;  &lt;int&gt;      &lt;int&gt;</a:t>
            </a:r>
          </a:p>
          <a:p>
            <a:r>
              <a:rPr lang="en-GB" sz="1400">
                <a:solidFill>
                  <a:srgbClr val="000000"/>
                </a:solidFill>
              </a:rPr>
              <a:t>1 Afghanistan  1999    745   19987071</a:t>
            </a:r>
          </a:p>
          <a:p>
            <a:r>
              <a:rPr lang="en-GB" sz="1400">
                <a:solidFill>
                  <a:srgbClr val="000000"/>
                </a:solidFill>
              </a:rPr>
              <a:t>2 Afghanistan  2000   2666   20595360</a:t>
            </a:r>
          </a:p>
          <a:p>
            <a:r>
              <a:rPr lang="en-GB" sz="1400">
                <a:solidFill>
                  <a:srgbClr val="000000"/>
                </a:solidFill>
              </a:rPr>
              <a:t>3 Brazil       1999  37737  172006362</a:t>
            </a:r>
          </a:p>
          <a:p>
            <a:r>
              <a:rPr lang="en-GB" sz="1400">
                <a:solidFill>
                  <a:srgbClr val="000000"/>
                </a:solidFill>
              </a:rPr>
              <a:t>4 Brazil       2000  80488  174504898</a:t>
            </a:r>
          </a:p>
          <a:p>
            <a:r>
              <a:rPr lang="en-GB" sz="1400">
                <a:solidFill>
                  <a:srgbClr val="000000"/>
                </a:solidFill>
              </a:rPr>
              <a:t>5 China        1999 212258 1272915272</a:t>
            </a:r>
          </a:p>
          <a:p>
            <a:r>
              <a:rPr lang="en-GB" sz="1400">
                <a:solidFill>
                  <a:srgbClr val="000000"/>
                </a:solidFill>
              </a:rPr>
              <a:t>6 China        2000 213766 1280428583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D5F75E9-CFAB-EB40-35AE-850A7F52BD5F}"/>
              </a:ext>
            </a:extLst>
          </p:cNvPr>
          <p:cNvSpPr txBox="1"/>
          <p:nvPr/>
        </p:nvSpPr>
        <p:spPr>
          <a:xfrm>
            <a:off x="5672499" y="1619858"/>
            <a:ext cx="4499942" cy="3108543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 wrap="square" rtlCol="0">
            <a:spAutoFit/>
          </a:bodyPr>
          <a:lstStyle>
            <a:defPPr>
              <a:defRPr lang="nl-BE"/>
            </a:defPPr>
            <a:lvl1pPr>
              <a:defRPr sz="1600">
                <a:solidFill>
                  <a:srgbClr val="2306F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r>
              <a:rPr lang="en-GB" sz="1400">
                <a:solidFill>
                  <a:srgbClr val="000000"/>
                </a:solidFill>
              </a:rPr>
              <a:t>   country      year type            count</a:t>
            </a:r>
          </a:p>
          <a:p>
            <a:r>
              <a:rPr lang="en-GB" sz="1400" i="1">
                <a:solidFill>
                  <a:srgbClr val="B7A9B6"/>
                </a:solidFill>
              </a:rPr>
              <a:t>   &lt;</a:t>
            </a:r>
            <a:r>
              <a:rPr lang="en-GB" sz="1400" i="1" err="1">
                <a:solidFill>
                  <a:srgbClr val="B7A9B6"/>
                </a:solidFill>
              </a:rPr>
              <a:t>chr</a:t>
            </a:r>
            <a:r>
              <a:rPr lang="en-GB" sz="1400" i="1">
                <a:solidFill>
                  <a:srgbClr val="B7A9B6"/>
                </a:solidFill>
              </a:rPr>
              <a:t>&gt;       &lt;int&gt; &lt;</a:t>
            </a:r>
            <a:r>
              <a:rPr lang="en-GB" sz="1400" i="1" err="1">
                <a:solidFill>
                  <a:srgbClr val="B7A9B6"/>
                </a:solidFill>
              </a:rPr>
              <a:t>chr</a:t>
            </a:r>
            <a:r>
              <a:rPr lang="en-GB" sz="1400" i="1">
                <a:solidFill>
                  <a:srgbClr val="B7A9B6"/>
                </a:solidFill>
              </a:rPr>
              <a:t>&gt;           &lt;int&gt;</a:t>
            </a:r>
          </a:p>
          <a:p>
            <a:r>
              <a:rPr lang="en-GB" sz="1400">
                <a:solidFill>
                  <a:srgbClr val="000000"/>
                </a:solidFill>
              </a:rPr>
              <a:t> 1 Afghanistan  1999 cases             745</a:t>
            </a:r>
          </a:p>
          <a:p>
            <a:r>
              <a:rPr lang="en-GB" sz="1400">
                <a:solidFill>
                  <a:srgbClr val="000000"/>
                </a:solidFill>
              </a:rPr>
              <a:t> 2 Afghanistan  1999 population   19987071</a:t>
            </a:r>
          </a:p>
          <a:p>
            <a:r>
              <a:rPr lang="en-GB" sz="1400">
                <a:solidFill>
                  <a:srgbClr val="000000"/>
                </a:solidFill>
              </a:rPr>
              <a:t> 3 Afghanistan  2000 cases            2666</a:t>
            </a:r>
          </a:p>
          <a:p>
            <a:r>
              <a:rPr lang="en-GB" sz="1400">
                <a:solidFill>
                  <a:srgbClr val="000000"/>
                </a:solidFill>
              </a:rPr>
              <a:t> 4 Afghanistan  2000 population   20595360</a:t>
            </a:r>
          </a:p>
          <a:p>
            <a:r>
              <a:rPr lang="en-GB" sz="1400">
                <a:solidFill>
                  <a:srgbClr val="000000"/>
                </a:solidFill>
              </a:rPr>
              <a:t> 5 Brazil       1999 cases           37737</a:t>
            </a:r>
          </a:p>
          <a:p>
            <a:r>
              <a:rPr lang="en-GB" sz="1400">
                <a:solidFill>
                  <a:srgbClr val="000000"/>
                </a:solidFill>
              </a:rPr>
              <a:t> 6 Brazil       1999 population  172006362</a:t>
            </a:r>
          </a:p>
          <a:p>
            <a:r>
              <a:rPr lang="en-GB" sz="1400">
                <a:solidFill>
                  <a:srgbClr val="000000"/>
                </a:solidFill>
              </a:rPr>
              <a:t> 7 Brazil       2000 cases           80488</a:t>
            </a:r>
          </a:p>
          <a:p>
            <a:r>
              <a:rPr lang="en-GB" sz="1400">
                <a:solidFill>
                  <a:srgbClr val="000000"/>
                </a:solidFill>
              </a:rPr>
              <a:t> 8 Brazil       2000 population  174504898</a:t>
            </a:r>
          </a:p>
          <a:p>
            <a:r>
              <a:rPr lang="en-GB" sz="1400">
                <a:solidFill>
                  <a:srgbClr val="000000"/>
                </a:solidFill>
              </a:rPr>
              <a:t> 9 China        1999 cases          212258</a:t>
            </a:r>
          </a:p>
          <a:p>
            <a:r>
              <a:rPr lang="en-GB" sz="1400">
                <a:solidFill>
                  <a:srgbClr val="000000"/>
                </a:solidFill>
              </a:rPr>
              <a:t>10 China        1999 population 1272915272</a:t>
            </a:r>
          </a:p>
          <a:p>
            <a:r>
              <a:rPr lang="en-GB" sz="1400">
                <a:solidFill>
                  <a:srgbClr val="000000"/>
                </a:solidFill>
              </a:rPr>
              <a:t>11 China        2000 cases          213766</a:t>
            </a:r>
          </a:p>
          <a:p>
            <a:r>
              <a:rPr lang="en-GB" sz="1400">
                <a:solidFill>
                  <a:srgbClr val="000000"/>
                </a:solidFill>
              </a:rPr>
              <a:t>12 China        2000 population 1280428583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33481F-46B6-A544-A757-E1FE4174962E}"/>
              </a:ext>
            </a:extLst>
          </p:cNvPr>
          <p:cNvSpPr txBox="1"/>
          <p:nvPr/>
        </p:nvSpPr>
        <p:spPr>
          <a:xfrm>
            <a:off x="822354" y="3832012"/>
            <a:ext cx="4059627" cy="1815882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 wrap="square" rtlCol="0">
            <a:spAutoFit/>
          </a:bodyPr>
          <a:lstStyle>
            <a:defPPr>
              <a:defRPr lang="nl-BE"/>
            </a:defPPr>
            <a:lvl1pPr>
              <a:defRPr sz="1600">
                <a:solidFill>
                  <a:srgbClr val="2306F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r>
              <a:rPr lang="en-GB" sz="1400">
                <a:solidFill>
                  <a:srgbClr val="000000"/>
                </a:solidFill>
              </a:rPr>
              <a:t>  country      year rate             </a:t>
            </a:r>
          </a:p>
          <a:p>
            <a:r>
              <a:rPr lang="en-GB" sz="1400" i="1">
                <a:solidFill>
                  <a:srgbClr val="B7A9B6"/>
                </a:solidFill>
              </a:rPr>
              <a:t>* &lt;chr&gt;       &lt;int&gt; &lt;chr&gt;            </a:t>
            </a:r>
          </a:p>
          <a:p>
            <a:r>
              <a:rPr lang="en-GB" sz="1400">
                <a:solidFill>
                  <a:srgbClr val="000000"/>
                </a:solidFill>
              </a:rPr>
              <a:t>1 Afghanistan  1999 745/19987071     </a:t>
            </a:r>
          </a:p>
          <a:p>
            <a:r>
              <a:rPr lang="en-GB" sz="1400">
                <a:solidFill>
                  <a:srgbClr val="000000"/>
                </a:solidFill>
              </a:rPr>
              <a:t>2 Afghanistan  2000 2666/20595360    </a:t>
            </a:r>
          </a:p>
          <a:p>
            <a:r>
              <a:rPr lang="en-GB" sz="1400">
                <a:solidFill>
                  <a:srgbClr val="000000"/>
                </a:solidFill>
              </a:rPr>
              <a:t>3 Brazil       1999 37737/172006362  </a:t>
            </a:r>
          </a:p>
          <a:p>
            <a:r>
              <a:rPr lang="en-GB" sz="1400">
                <a:solidFill>
                  <a:srgbClr val="000000"/>
                </a:solidFill>
              </a:rPr>
              <a:t>4 Brazil       2000 80488/174504898  </a:t>
            </a:r>
          </a:p>
          <a:p>
            <a:r>
              <a:rPr lang="en-GB" sz="1400">
                <a:solidFill>
                  <a:srgbClr val="000000"/>
                </a:solidFill>
              </a:rPr>
              <a:t>5 China        1999 212258/1272915272</a:t>
            </a:r>
          </a:p>
          <a:p>
            <a:r>
              <a:rPr lang="en-GB" sz="1400">
                <a:solidFill>
                  <a:srgbClr val="000000"/>
                </a:solidFill>
              </a:rPr>
              <a:t>6 China        2000 213766/1280428583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7997F4B-5BF7-3352-779D-32727EA03727}"/>
              </a:ext>
            </a:extLst>
          </p:cNvPr>
          <p:cNvSpPr txBox="1"/>
          <p:nvPr/>
        </p:nvSpPr>
        <p:spPr>
          <a:xfrm>
            <a:off x="8894973" y="5063120"/>
            <a:ext cx="3297027" cy="1169551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 wrap="square" rtlCol="0">
            <a:spAutoFit/>
          </a:bodyPr>
          <a:lstStyle>
            <a:defPPr>
              <a:defRPr lang="nl-BE"/>
            </a:defPPr>
            <a:lvl1pPr>
              <a:defRPr sz="1600">
                <a:solidFill>
                  <a:srgbClr val="2306F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r>
              <a:rPr lang="en-GB" sz="1400">
                <a:solidFill>
                  <a:srgbClr val="000000"/>
                </a:solidFill>
              </a:rPr>
              <a:t>  country     `1999` `2000`</a:t>
            </a:r>
          </a:p>
          <a:p>
            <a:r>
              <a:rPr lang="en-GB" sz="1400">
                <a:solidFill>
                  <a:srgbClr val="000000"/>
                </a:solidFill>
              </a:rPr>
              <a:t>* &lt;</a:t>
            </a:r>
            <a:r>
              <a:rPr lang="en-GB" sz="1400" err="1">
                <a:solidFill>
                  <a:srgbClr val="000000"/>
                </a:solidFill>
              </a:rPr>
              <a:t>chr</a:t>
            </a:r>
            <a:r>
              <a:rPr lang="en-GB" sz="1400">
                <a:solidFill>
                  <a:srgbClr val="000000"/>
                </a:solidFill>
              </a:rPr>
              <a:t>&gt;        &lt;int&gt;  &lt;int&gt;</a:t>
            </a:r>
          </a:p>
          <a:p>
            <a:r>
              <a:rPr lang="en-GB" sz="1400">
                <a:solidFill>
                  <a:srgbClr val="000000"/>
                </a:solidFill>
              </a:rPr>
              <a:t>1 Afghanistan    745   2666</a:t>
            </a:r>
          </a:p>
          <a:p>
            <a:r>
              <a:rPr lang="en-GB" sz="1400">
                <a:solidFill>
                  <a:srgbClr val="000000"/>
                </a:solidFill>
              </a:rPr>
              <a:t>2 Brazil       37737  80488</a:t>
            </a:r>
          </a:p>
          <a:p>
            <a:r>
              <a:rPr lang="en-GB" sz="1400">
                <a:solidFill>
                  <a:srgbClr val="000000"/>
                </a:solidFill>
              </a:rPr>
              <a:t>3 China       212258 213766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E0E00AD-52AD-A09F-A3FE-DD4239297FAF}"/>
              </a:ext>
            </a:extLst>
          </p:cNvPr>
          <p:cNvSpPr txBox="1"/>
          <p:nvPr/>
        </p:nvSpPr>
        <p:spPr>
          <a:xfrm>
            <a:off x="5214827" y="5063120"/>
            <a:ext cx="3680146" cy="1169551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 wrap="square" rtlCol="0">
            <a:spAutoFit/>
          </a:bodyPr>
          <a:lstStyle>
            <a:defPPr>
              <a:defRPr lang="nl-BE"/>
            </a:defPPr>
            <a:lvl1pPr>
              <a:defRPr sz="1600">
                <a:solidFill>
                  <a:srgbClr val="2306F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r>
              <a:rPr lang="en-GB" sz="1400">
                <a:solidFill>
                  <a:srgbClr val="000000"/>
                </a:solidFill>
              </a:rPr>
              <a:t>  country         `1999`     `2000`</a:t>
            </a:r>
          </a:p>
          <a:p>
            <a:r>
              <a:rPr lang="en-GB" sz="1400">
                <a:solidFill>
                  <a:srgbClr val="000000"/>
                </a:solidFill>
              </a:rPr>
              <a:t>* &lt;chr&gt;            &lt;int&gt;      &lt;int&gt;</a:t>
            </a:r>
          </a:p>
          <a:p>
            <a:r>
              <a:rPr lang="en-GB" sz="1400">
                <a:solidFill>
                  <a:srgbClr val="000000"/>
                </a:solidFill>
              </a:rPr>
              <a:t>1 Afghanistan   19987071   20595360</a:t>
            </a:r>
          </a:p>
          <a:p>
            <a:r>
              <a:rPr lang="en-GB" sz="1400">
                <a:solidFill>
                  <a:srgbClr val="000000"/>
                </a:solidFill>
              </a:rPr>
              <a:t>2 Brazil       172006362  174504898</a:t>
            </a:r>
          </a:p>
          <a:p>
            <a:r>
              <a:rPr lang="en-GB" sz="1400">
                <a:solidFill>
                  <a:srgbClr val="000000"/>
                </a:solidFill>
              </a:rPr>
              <a:t>3 China       1272915272 1280428583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ACA87372-0EF7-A9A6-59F7-3108C63BF6D4}"/>
              </a:ext>
            </a:extLst>
          </p:cNvPr>
          <p:cNvSpPr/>
          <p:nvPr/>
        </p:nvSpPr>
        <p:spPr>
          <a:xfrm>
            <a:off x="343542" y="1764131"/>
            <a:ext cx="320511" cy="2909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BE"/>
              <a:t>1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4E9EC5AE-7A7F-8ACC-D956-5C2ED95222D9}"/>
              </a:ext>
            </a:extLst>
          </p:cNvPr>
          <p:cNvSpPr/>
          <p:nvPr/>
        </p:nvSpPr>
        <p:spPr>
          <a:xfrm>
            <a:off x="5137196" y="1613118"/>
            <a:ext cx="320511" cy="31939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BE"/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B572E41-7BB2-CF80-4AD8-386038DCB2C6}"/>
              </a:ext>
            </a:extLst>
          </p:cNvPr>
          <p:cNvSpPr/>
          <p:nvPr/>
        </p:nvSpPr>
        <p:spPr>
          <a:xfrm>
            <a:off x="343542" y="3915732"/>
            <a:ext cx="320511" cy="2909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BE"/>
              <a:t>3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0A21350-EA48-9306-4646-C2FBE480B532}"/>
              </a:ext>
            </a:extLst>
          </p:cNvPr>
          <p:cNvSpPr/>
          <p:nvPr/>
        </p:nvSpPr>
        <p:spPr>
          <a:xfrm>
            <a:off x="5214827" y="4634573"/>
            <a:ext cx="320511" cy="2909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BE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7554128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B9B9DB0-AD21-954A-9235-C50924886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noProof="0" dirty="0"/>
              <a:t>Each observation must have its own row</a:t>
            </a:r>
            <a:endParaRPr lang="en-US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FDF702-68FC-F645-8BB5-B31E03D26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21</a:t>
            </a:fld>
            <a:endParaRPr lang="nl-BE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6CE32B8-8E72-944F-B532-D6287AB42CE7}"/>
              </a:ext>
            </a:extLst>
          </p:cNvPr>
          <p:cNvSpPr txBox="1"/>
          <p:nvPr/>
        </p:nvSpPr>
        <p:spPr>
          <a:xfrm>
            <a:off x="1149531" y="32657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BE"/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228986BC-6F8D-7144-97D7-FB57AE01933F}"/>
              </a:ext>
            </a:extLst>
          </p:cNvPr>
          <p:cNvSpPr txBox="1">
            <a:spLocks/>
          </p:cNvSpPr>
          <p:nvPr/>
        </p:nvSpPr>
        <p:spPr>
          <a:xfrm>
            <a:off x="4072589" y="1152644"/>
            <a:ext cx="4064399" cy="4428000"/>
          </a:xfrm>
          <a:prstGeom prst="rect">
            <a:avLst/>
          </a:prstGeom>
          <a:ln>
            <a:noFill/>
          </a:ln>
        </p:spPr>
        <p:txBody>
          <a:bodyPr vert="horz" lIns="0" tIns="252000" rIns="0" bIns="144000" rtlCol="0">
            <a:normAutofit/>
          </a:bodyPr>
          <a:lstStyle>
            <a:lvl1pPr marL="323850" indent="-32385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Pct val="90000"/>
              <a:buFont typeface="Verdana" pitchFamily="34" charset="0"/>
              <a:buChar char="•"/>
              <a:defRPr sz="3000" kern="120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1pPr>
            <a:lvl2pPr marL="723900" indent="-3683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Font typeface="Arial" pitchFamily="34" charset="0"/>
              <a:buChar char="−"/>
              <a:defRPr sz="2500" kern="120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2pPr>
            <a:lvl3pPr marL="982663" indent="-258763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Font typeface="Arial" pitchFamily="34" charset="0"/>
              <a:buChar char="•"/>
              <a:defRPr sz="2300" kern="120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3pPr>
            <a:lvl4pPr marL="1255713" indent="-27305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Font typeface="Arial" pitchFamily="34" charset="0"/>
              <a:buChar char="»"/>
              <a:defRPr sz="2000" kern="120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4pPr>
            <a:lvl5pPr marL="1609725" indent="-258763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Font typeface="Arial" pitchFamily="34" charset="0"/>
              <a:buNone/>
              <a:defRPr sz="1700" kern="120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Verdana" pitchFamily="34" charset="0"/>
              <a:buNone/>
            </a:pPr>
            <a:endParaRPr lang="en-BE"/>
          </a:p>
          <a:p>
            <a:pPr marL="0" indent="0">
              <a:buFont typeface="Verdana" pitchFamily="34" charset="0"/>
              <a:buNone/>
            </a:pPr>
            <a:endParaRPr lang="en-BE"/>
          </a:p>
          <a:p>
            <a:pPr marL="0" indent="0">
              <a:buFont typeface="Verdana" pitchFamily="34" charset="0"/>
              <a:buNone/>
            </a:pPr>
            <a:endParaRPr lang="en-BE"/>
          </a:p>
          <a:p>
            <a:pPr marL="0" indent="0">
              <a:buFont typeface="Verdana" pitchFamily="34" charset="0"/>
              <a:buNone/>
            </a:pPr>
            <a:endParaRPr lang="en-BE"/>
          </a:p>
          <a:p>
            <a:pPr marL="0" indent="0">
              <a:buFont typeface="Verdana" pitchFamily="34" charset="0"/>
              <a:buNone/>
            </a:pPr>
            <a:br>
              <a:rPr lang="en-BE"/>
            </a:br>
            <a:endParaRPr lang="en-BE"/>
          </a:p>
        </p:txBody>
      </p: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4163AFD7-B9F8-AC47-977D-C58A07A6E9C0}"/>
              </a:ext>
            </a:extLst>
          </p:cNvPr>
          <p:cNvSpPr txBox="1">
            <a:spLocks/>
          </p:cNvSpPr>
          <p:nvPr/>
        </p:nvSpPr>
        <p:spPr>
          <a:xfrm>
            <a:off x="8136389" y="1152000"/>
            <a:ext cx="4064399" cy="4428000"/>
          </a:xfrm>
          <a:prstGeom prst="rect">
            <a:avLst/>
          </a:prstGeom>
          <a:ln>
            <a:noFill/>
          </a:ln>
        </p:spPr>
        <p:txBody>
          <a:bodyPr vert="horz" lIns="0" tIns="252000" rIns="0" bIns="144000" rtlCol="0">
            <a:normAutofit/>
          </a:bodyPr>
          <a:lstStyle>
            <a:lvl1pPr marL="323850" indent="-32385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Pct val="90000"/>
              <a:buFont typeface="Verdana" pitchFamily="34" charset="0"/>
              <a:buChar char="•"/>
              <a:defRPr sz="3000" kern="120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1pPr>
            <a:lvl2pPr marL="723900" indent="-3683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Font typeface="Arial" pitchFamily="34" charset="0"/>
              <a:buChar char="−"/>
              <a:defRPr sz="2500" kern="120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2pPr>
            <a:lvl3pPr marL="982663" indent="-258763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Font typeface="Arial" pitchFamily="34" charset="0"/>
              <a:buChar char="•"/>
              <a:defRPr sz="2300" kern="120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3pPr>
            <a:lvl4pPr marL="1255713" indent="-27305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Font typeface="Arial" pitchFamily="34" charset="0"/>
              <a:buChar char="»"/>
              <a:defRPr sz="2000" kern="120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4pPr>
            <a:lvl5pPr marL="1609725" indent="-258763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Font typeface="Arial" pitchFamily="34" charset="0"/>
              <a:buNone/>
              <a:defRPr sz="1700" kern="120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Verdana" pitchFamily="34" charset="0"/>
              <a:buNone/>
            </a:pPr>
            <a:endParaRPr lang="en-BE"/>
          </a:p>
          <a:p>
            <a:pPr marL="0" indent="0">
              <a:buFont typeface="Verdana" pitchFamily="34" charset="0"/>
              <a:buNone/>
            </a:pPr>
            <a:endParaRPr lang="en-BE"/>
          </a:p>
          <a:p>
            <a:pPr marL="0" indent="0">
              <a:buFont typeface="Verdana" pitchFamily="34" charset="0"/>
              <a:buNone/>
            </a:pPr>
            <a:endParaRPr lang="en-BE"/>
          </a:p>
          <a:p>
            <a:pPr marL="0" indent="0">
              <a:buFont typeface="Verdana" pitchFamily="34" charset="0"/>
              <a:buNone/>
            </a:pPr>
            <a:endParaRPr lang="en-BE"/>
          </a:p>
          <a:p>
            <a:pPr marL="0" indent="0">
              <a:buFont typeface="Verdana" pitchFamily="34" charset="0"/>
              <a:buNone/>
            </a:pPr>
            <a:br>
              <a:rPr lang="en-BE"/>
            </a:br>
            <a:endParaRPr lang="en-BE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7CB46E8-93C2-C044-BD2E-9F5BBD277297}"/>
              </a:ext>
            </a:extLst>
          </p:cNvPr>
          <p:cNvSpPr txBox="1"/>
          <p:nvPr/>
        </p:nvSpPr>
        <p:spPr>
          <a:xfrm>
            <a:off x="344275" y="1813886"/>
            <a:ext cx="4026879" cy="1815882"/>
          </a:xfrm>
          <a:prstGeom prst="rect">
            <a:avLst/>
          </a:prstGeom>
          <a:solidFill>
            <a:srgbClr val="0C720B">
              <a:alpha val="25490"/>
            </a:srgbClr>
          </a:solidFill>
          <a:ln w="12700">
            <a:solidFill>
              <a:srgbClr val="000000"/>
            </a:solidFill>
          </a:ln>
        </p:spPr>
        <p:txBody>
          <a:bodyPr wrap="square" rtlCol="0">
            <a:spAutoFit/>
          </a:bodyPr>
          <a:lstStyle>
            <a:defPPr>
              <a:defRPr lang="nl-BE"/>
            </a:defPPr>
            <a:lvl1pPr>
              <a:defRPr sz="1600">
                <a:solidFill>
                  <a:srgbClr val="2306F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r>
              <a:rPr lang="en-GB" sz="1400">
                <a:solidFill>
                  <a:srgbClr val="000000"/>
                </a:solidFill>
              </a:rPr>
              <a:t>  country      year  cases population</a:t>
            </a:r>
          </a:p>
          <a:p>
            <a:r>
              <a:rPr lang="en-GB" sz="1400" i="1">
                <a:solidFill>
                  <a:srgbClr val="B7A9B6"/>
                </a:solidFill>
              </a:rPr>
              <a:t>  &lt;</a:t>
            </a:r>
            <a:r>
              <a:rPr lang="en-GB" sz="1400" i="1" err="1">
                <a:solidFill>
                  <a:srgbClr val="B7A9B6"/>
                </a:solidFill>
              </a:rPr>
              <a:t>chr</a:t>
            </a:r>
            <a:r>
              <a:rPr lang="en-GB" sz="1400" i="1">
                <a:solidFill>
                  <a:srgbClr val="B7A9B6"/>
                </a:solidFill>
              </a:rPr>
              <a:t>&gt;       &lt;int&gt;  &lt;int&gt;      &lt;int&gt;</a:t>
            </a:r>
          </a:p>
          <a:p>
            <a:r>
              <a:rPr lang="en-GB" sz="1400">
                <a:solidFill>
                  <a:srgbClr val="000000"/>
                </a:solidFill>
              </a:rPr>
              <a:t>1 Afghanistan  1999    745   19987071</a:t>
            </a:r>
          </a:p>
          <a:p>
            <a:r>
              <a:rPr lang="en-GB" sz="1400">
                <a:solidFill>
                  <a:srgbClr val="000000"/>
                </a:solidFill>
              </a:rPr>
              <a:t>2 Afghanistan  2000   2666   20595360</a:t>
            </a:r>
          </a:p>
          <a:p>
            <a:r>
              <a:rPr lang="en-GB" sz="1400">
                <a:solidFill>
                  <a:srgbClr val="000000"/>
                </a:solidFill>
              </a:rPr>
              <a:t>3 Brazil       1999  37737  172006362</a:t>
            </a:r>
          </a:p>
          <a:p>
            <a:r>
              <a:rPr lang="en-GB" sz="1400">
                <a:solidFill>
                  <a:srgbClr val="000000"/>
                </a:solidFill>
              </a:rPr>
              <a:t>4 Brazil       2000  80488  174504898</a:t>
            </a:r>
          </a:p>
          <a:p>
            <a:r>
              <a:rPr lang="en-GB" sz="1400">
                <a:solidFill>
                  <a:srgbClr val="000000"/>
                </a:solidFill>
              </a:rPr>
              <a:t>5 China        1999 212258 1272915272</a:t>
            </a:r>
          </a:p>
          <a:p>
            <a:r>
              <a:rPr lang="en-GB" sz="1400">
                <a:solidFill>
                  <a:srgbClr val="000000"/>
                </a:solidFill>
              </a:rPr>
              <a:t>6 China        2000 213766 1280428583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B74D426-4CA0-6D44-AA36-997D791E29E4}"/>
              </a:ext>
            </a:extLst>
          </p:cNvPr>
          <p:cNvSpPr txBox="1"/>
          <p:nvPr/>
        </p:nvSpPr>
        <p:spPr>
          <a:xfrm>
            <a:off x="4758031" y="1502248"/>
            <a:ext cx="4499942" cy="3108543"/>
          </a:xfrm>
          <a:prstGeom prst="rect">
            <a:avLst/>
          </a:prstGeom>
          <a:solidFill>
            <a:srgbClr val="EC4B2E">
              <a:alpha val="24706"/>
            </a:srgbClr>
          </a:solidFill>
          <a:ln w="12700">
            <a:solidFill>
              <a:srgbClr val="000000"/>
            </a:solidFill>
          </a:ln>
        </p:spPr>
        <p:txBody>
          <a:bodyPr wrap="square" rtlCol="0">
            <a:spAutoFit/>
          </a:bodyPr>
          <a:lstStyle>
            <a:defPPr>
              <a:defRPr lang="nl-BE"/>
            </a:defPPr>
            <a:lvl1pPr>
              <a:defRPr sz="1600">
                <a:solidFill>
                  <a:srgbClr val="2306F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r>
              <a:rPr lang="en-GB" sz="1400">
                <a:solidFill>
                  <a:srgbClr val="000000"/>
                </a:solidFill>
              </a:rPr>
              <a:t>   country      year type            count</a:t>
            </a:r>
          </a:p>
          <a:p>
            <a:r>
              <a:rPr lang="en-GB" sz="1400" i="1">
                <a:solidFill>
                  <a:srgbClr val="B7A9B6"/>
                </a:solidFill>
              </a:rPr>
              <a:t>   &lt;</a:t>
            </a:r>
            <a:r>
              <a:rPr lang="en-GB" sz="1400" i="1" err="1">
                <a:solidFill>
                  <a:srgbClr val="B7A9B6"/>
                </a:solidFill>
              </a:rPr>
              <a:t>chr</a:t>
            </a:r>
            <a:r>
              <a:rPr lang="en-GB" sz="1400" i="1">
                <a:solidFill>
                  <a:srgbClr val="B7A9B6"/>
                </a:solidFill>
              </a:rPr>
              <a:t>&gt;       &lt;int&gt; &lt;</a:t>
            </a:r>
            <a:r>
              <a:rPr lang="en-GB" sz="1400" i="1" err="1">
                <a:solidFill>
                  <a:srgbClr val="B7A9B6"/>
                </a:solidFill>
              </a:rPr>
              <a:t>chr</a:t>
            </a:r>
            <a:r>
              <a:rPr lang="en-GB" sz="1400" i="1">
                <a:solidFill>
                  <a:srgbClr val="B7A9B6"/>
                </a:solidFill>
              </a:rPr>
              <a:t>&gt;           &lt;int&gt;</a:t>
            </a:r>
          </a:p>
          <a:p>
            <a:r>
              <a:rPr lang="en-GB" sz="1400">
                <a:solidFill>
                  <a:srgbClr val="000000"/>
                </a:solidFill>
              </a:rPr>
              <a:t> 1 Afghanistan  1999 cases             745</a:t>
            </a:r>
          </a:p>
          <a:p>
            <a:r>
              <a:rPr lang="en-GB" sz="1400">
                <a:solidFill>
                  <a:srgbClr val="000000"/>
                </a:solidFill>
              </a:rPr>
              <a:t> 2 Afghanistan  1999 population   19987071</a:t>
            </a:r>
          </a:p>
          <a:p>
            <a:r>
              <a:rPr lang="en-GB" sz="1400">
                <a:solidFill>
                  <a:srgbClr val="000000"/>
                </a:solidFill>
              </a:rPr>
              <a:t> 3 Afghanistan  2000 cases            2666</a:t>
            </a:r>
          </a:p>
          <a:p>
            <a:r>
              <a:rPr lang="en-GB" sz="1400">
                <a:solidFill>
                  <a:srgbClr val="000000"/>
                </a:solidFill>
              </a:rPr>
              <a:t> 4 Afghanistan  2000 population   20595360</a:t>
            </a:r>
          </a:p>
          <a:p>
            <a:r>
              <a:rPr lang="en-GB" sz="1400">
                <a:solidFill>
                  <a:srgbClr val="000000"/>
                </a:solidFill>
              </a:rPr>
              <a:t> 5 Brazil       1999 cases           37737</a:t>
            </a:r>
          </a:p>
          <a:p>
            <a:r>
              <a:rPr lang="en-GB" sz="1400">
                <a:solidFill>
                  <a:srgbClr val="000000"/>
                </a:solidFill>
              </a:rPr>
              <a:t> 6 Brazil       1999 population  172006362</a:t>
            </a:r>
          </a:p>
          <a:p>
            <a:r>
              <a:rPr lang="en-GB" sz="1400">
                <a:solidFill>
                  <a:srgbClr val="000000"/>
                </a:solidFill>
              </a:rPr>
              <a:t> 7 Brazil       2000 cases           80488</a:t>
            </a:r>
          </a:p>
          <a:p>
            <a:r>
              <a:rPr lang="en-GB" sz="1400">
                <a:solidFill>
                  <a:srgbClr val="000000"/>
                </a:solidFill>
              </a:rPr>
              <a:t> 8 Brazil       2000 population  174504898</a:t>
            </a:r>
          </a:p>
          <a:p>
            <a:r>
              <a:rPr lang="en-GB" sz="1400">
                <a:solidFill>
                  <a:srgbClr val="000000"/>
                </a:solidFill>
              </a:rPr>
              <a:t> 9 China        1999 cases          212258</a:t>
            </a:r>
          </a:p>
          <a:p>
            <a:r>
              <a:rPr lang="en-GB" sz="1400">
                <a:solidFill>
                  <a:srgbClr val="000000"/>
                </a:solidFill>
              </a:rPr>
              <a:t>10 China        1999 population 1272915272</a:t>
            </a:r>
          </a:p>
          <a:p>
            <a:r>
              <a:rPr lang="en-GB" sz="1400">
                <a:solidFill>
                  <a:srgbClr val="000000"/>
                </a:solidFill>
              </a:rPr>
              <a:t>11 China        2000 cases          213766</a:t>
            </a:r>
          </a:p>
          <a:p>
            <a:r>
              <a:rPr lang="en-GB" sz="1400">
                <a:solidFill>
                  <a:srgbClr val="000000"/>
                </a:solidFill>
              </a:rPr>
              <a:t>12 China        2000 population 1280428583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E0E57CD-09A1-4E40-837D-0BC33DDBFCA1}"/>
              </a:ext>
            </a:extLst>
          </p:cNvPr>
          <p:cNvSpPr txBox="1"/>
          <p:nvPr/>
        </p:nvSpPr>
        <p:spPr>
          <a:xfrm>
            <a:off x="344275" y="3913458"/>
            <a:ext cx="4059627" cy="1815882"/>
          </a:xfrm>
          <a:prstGeom prst="rect">
            <a:avLst/>
          </a:prstGeom>
          <a:solidFill>
            <a:srgbClr val="0C720B">
              <a:alpha val="25490"/>
            </a:srgbClr>
          </a:solidFill>
          <a:ln w="12700">
            <a:solidFill>
              <a:srgbClr val="000000"/>
            </a:solidFill>
          </a:ln>
        </p:spPr>
        <p:txBody>
          <a:bodyPr wrap="square" rtlCol="0">
            <a:spAutoFit/>
          </a:bodyPr>
          <a:lstStyle>
            <a:defPPr>
              <a:defRPr lang="nl-BE"/>
            </a:defPPr>
            <a:lvl1pPr>
              <a:defRPr sz="1600">
                <a:solidFill>
                  <a:srgbClr val="2306F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r>
              <a:rPr lang="en-GB" sz="1400">
                <a:solidFill>
                  <a:srgbClr val="000000"/>
                </a:solidFill>
              </a:rPr>
              <a:t>  country      year rate             </a:t>
            </a:r>
          </a:p>
          <a:p>
            <a:r>
              <a:rPr lang="en-GB" sz="1400" i="1">
                <a:solidFill>
                  <a:srgbClr val="B7A9B6"/>
                </a:solidFill>
              </a:rPr>
              <a:t>* &lt;chr&gt;       &lt;int&gt; &lt;chr&gt;            </a:t>
            </a:r>
          </a:p>
          <a:p>
            <a:r>
              <a:rPr lang="en-GB" sz="1400">
                <a:solidFill>
                  <a:srgbClr val="000000"/>
                </a:solidFill>
              </a:rPr>
              <a:t>1 Afghanistan  1999 745/19987071     </a:t>
            </a:r>
          </a:p>
          <a:p>
            <a:r>
              <a:rPr lang="en-GB" sz="1400">
                <a:solidFill>
                  <a:srgbClr val="000000"/>
                </a:solidFill>
              </a:rPr>
              <a:t>2 Afghanistan  2000 2666/20595360    </a:t>
            </a:r>
          </a:p>
          <a:p>
            <a:r>
              <a:rPr lang="en-GB" sz="1400">
                <a:solidFill>
                  <a:srgbClr val="000000"/>
                </a:solidFill>
              </a:rPr>
              <a:t>3 Brazil       1999 37737/172006362  </a:t>
            </a:r>
          </a:p>
          <a:p>
            <a:r>
              <a:rPr lang="en-GB" sz="1400">
                <a:solidFill>
                  <a:srgbClr val="000000"/>
                </a:solidFill>
              </a:rPr>
              <a:t>4 Brazil       2000 80488/174504898  </a:t>
            </a:r>
          </a:p>
          <a:p>
            <a:r>
              <a:rPr lang="en-GB" sz="1400">
                <a:solidFill>
                  <a:srgbClr val="000000"/>
                </a:solidFill>
              </a:rPr>
              <a:t>5 China        1999 212258/1272915272</a:t>
            </a:r>
          </a:p>
          <a:p>
            <a:r>
              <a:rPr lang="en-GB" sz="1400">
                <a:solidFill>
                  <a:srgbClr val="000000"/>
                </a:solidFill>
              </a:rPr>
              <a:t>6 China        2000 213766/1280428583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C77FA09-48F4-E84D-834D-74A2AC10D15D}"/>
              </a:ext>
            </a:extLst>
          </p:cNvPr>
          <p:cNvSpPr txBox="1"/>
          <p:nvPr/>
        </p:nvSpPr>
        <p:spPr>
          <a:xfrm>
            <a:off x="8650053" y="5067599"/>
            <a:ext cx="3297027" cy="1169551"/>
          </a:xfrm>
          <a:prstGeom prst="rect">
            <a:avLst/>
          </a:prstGeom>
          <a:solidFill>
            <a:srgbClr val="EC4B2E">
              <a:alpha val="24706"/>
            </a:srgbClr>
          </a:solidFill>
          <a:ln w="12700">
            <a:solidFill>
              <a:srgbClr val="000000"/>
            </a:solidFill>
          </a:ln>
        </p:spPr>
        <p:txBody>
          <a:bodyPr wrap="square" rtlCol="0">
            <a:spAutoFit/>
          </a:bodyPr>
          <a:lstStyle>
            <a:defPPr>
              <a:defRPr lang="nl-BE"/>
            </a:defPPr>
            <a:lvl1pPr>
              <a:defRPr sz="1600">
                <a:solidFill>
                  <a:srgbClr val="2306F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r>
              <a:rPr lang="en-GB" sz="1400">
                <a:solidFill>
                  <a:srgbClr val="000000"/>
                </a:solidFill>
              </a:rPr>
              <a:t>  country     `1999` `2000`</a:t>
            </a:r>
          </a:p>
          <a:p>
            <a:r>
              <a:rPr lang="en-GB" sz="1400">
                <a:solidFill>
                  <a:srgbClr val="000000"/>
                </a:solidFill>
              </a:rPr>
              <a:t>* &lt;chr&gt;        &lt;int&gt;  &lt;int&gt;</a:t>
            </a:r>
          </a:p>
          <a:p>
            <a:r>
              <a:rPr lang="en-GB" sz="1400">
                <a:solidFill>
                  <a:srgbClr val="000000"/>
                </a:solidFill>
              </a:rPr>
              <a:t>1 Afghanistan    745   2666</a:t>
            </a:r>
          </a:p>
          <a:p>
            <a:r>
              <a:rPr lang="en-GB" sz="1400">
                <a:solidFill>
                  <a:srgbClr val="000000"/>
                </a:solidFill>
              </a:rPr>
              <a:t>2 Brazil       37737  80488</a:t>
            </a:r>
          </a:p>
          <a:p>
            <a:r>
              <a:rPr lang="en-GB" sz="1400">
                <a:solidFill>
                  <a:srgbClr val="000000"/>
                </a:solidFill>
              </a:rPr>
              <a:t>3 China       212258 213766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16D50CB-C088-554F-B589-AF3DFE138529}"/>
              </a:ext>
            </a:extLst>
          </p:cNvPr>
          <p:cNvSpPr txBox="1"/>
          <p:nvPr/>
        </p:nvSpPr>
        <p:spPr>
          <a:xfrm>
            <a:off x="4815924" y="5067599"/>
            <a:ext cx="3680146" cy="1169551"/>
          </a:xfrm>
          <a:prstGeom prst="rect">
            <a:avLst/>
          </a:prstGeom>
          <a:solidFill>
            <a:srgbClr val="EC4B2E">
              <a:alpha val="24706"/>
            </a:srgbClr>
          </a:solidFill>
          <a:ln w="12700">
            <a:solidFill>
              <a:srgbClr val="000000"/>
            </a:solidFill>
          </a:ln>
        </p:spPr>
        <p:txBody>
          <a:bodyPr wrap="square" rtlCol="0">
            <a:spAutoFit/>
          </a:bodyPr>
          <a:lstStyle>
            <a:defPPr>
              <a:defRPr lang="nl-BE"/>
            </a:defPPr>
            <a:lvl1pPr>
              <a:defRPr sz="1600">
                <a:solidFill>
                  <a:srgbClr val="2306F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r>
              <a:rPr lang="en-GB" sz="1400">
                <a:solidFill>
                  <a:srgbClr val="000000"/>
                </a:solidFill>
              </a:rPr>
              <a:t>  country         `1999`     `2000`</a:t>
            </a:r>
          </a:p>
          <a:p>
            <a:r>
              <a:rPr lang="en-GB" sz="1400">
                <a:solidFill>
                  <a:srgbClr val="000000"/>
                </a:solidFill>
              </a:rPr>
              <a:t>* &lt;</a:t>
            </a:r>
            <a:r>
              <a:rPr lang="en-GB" sz="1400" err="1">
                <a:solidFill>
                  <a:srgbClr val="000000"/>
                </a:solidFill>
              </a:rPr>
              <a:t>chr</a:t>
            </a:r>
            <a:r>
              <a:rPr lang="en-GB" sz="1400">
                <a:solidFill>
                  <a:srgbClr val="000000"/>
                </a:solidFill>
              </a:rPr>
              <a:t>&gt;            &lt;int&gt;      &lt;int&gt;</a:t>
            </a:r>
          </a:p>
          <a:p>
            <a:r>
              <a:rPr lang="en-GB" sz="1400">
                <a:solidFill>
                  <a:srgbClr val="000000"/>
                </a:solidFill>
              </a:rPr>
              <a:t>1 Afghanistan   19987071   20595360</a:t>
            </a:r>
          </a:p>
          <a:p>
            <a:r>
              <a:rPr lang="en-GB" sz="1400">
                <a:solidFill>
                  <a:srgbClr val="000000"/>
                </a:solidFill>
              </a:rPr>
              <a:t>2 Brazil       172006362  174504898</a:t>
            </a:r>
          </a:p>
          <a:p>
            <a:r>
              <a:rPr lang="en-GB" sz="1400">
                <a:solidFill>
                  <a:srgbClr val="000000"/>
                </a:solidFill>
              </a:rPr>
              <a:t>3 China       1272915272 1280428583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F3735B5-185D-A849-96E6-CACFE02F467D}"/>
              </a:ext>
            </a:extLst>
          </p:cNvPr>
          <p:cNvSpPr txBox="1"/>
          <p:nvPr/>
        </p:nvSpPr>
        <p:spPr>
          <a:xfrm>
            <a:off x="4758031" y="4718935"/>
            <a:ext cx="702109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sz="1600">
                <a:solidFill>
                  <a:srgbClr val="FF0000"/>
                </a:solidFill>
              </a:rPr>
              <a:t>Observations spread across two tables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71168E1-53B6-294A-A6DE-F5B8A6B901A8}"/>
              </a:ext>
            </a:extLst>
          </p:cNvPr>
          <p:cNvSpPr txBox="1"/>
          <p:nvPr/>
        </p:nvSpPr>
        <p:spPr>
          <a:xfrm>
            <a:off x="9280894" y="1969788"/>
            <a:ext cx="25928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1600">
                <a:solidFill>
                  <a:srgbClr val="FF0000"/>
                </a:solidFill>
              </a:rPr>
              <a:t>2</a:t>
            </a:r>
            <a:r>
              <a:rPr lang="en-BE" sz="1600">
                <a:solidFill>
                  <a:srgbClr val="FF0000"/>
                </a:solidFill>
              </a:rPr>
              <a:t> rows per observation</a:t>
            </a:r>
          </a:p>
        </p:txBody>
      </p:sp>
    </p:spTree>
    <p:extLst>
      <p:ext uri="{BB962C8B-B14F-4D97-AF65-F5344CB8AC3E}">
        <p14:creationId xmlns:p14="http://schemas.microsoft.com/office/powerpoint/2010/main" val="31534702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943F21F-B143-7BEB-7A2B-FF280F7F5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Does e</a:t>
            </a:r>
            <a:r>
              <a:rPr lang="en-US" sz="4400" noProof="0" dirty="0"/>
              <a:t>ach value have its own cell?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70B171-9888-627F-53B1-A676AC91C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22</a:t>
            </a:fld>
            <a:endParaRPr lang="nl-B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C7D404-5096-5571-8D50-9D758D701440}"/>
              </a:ext>
            </a:extLst>
          </p:cNvPr>
          <p:cNvSpPr txBox="1"/>
          <p:nvPr/>
        </p:nvSpPr>
        <p:spPr>
          <a:xfrm>
            <a:off x="822354" y="1613118"/>
            <a:ext cx="3949221" cy="1815882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 wrap="square" rtlCol="0">
            <a:spAutoFit/>
          </a:bodyPr>
          <a:lstStyle>
            <a:defPPr>
              <a:defRPr lang="nl-BE"/>
            </a:defPPr>
            <a:lvl1pPr>
              <a:defRPr sz="1600">
                <a:solidFill>
                  <a:srgbClr val="2306F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r>
              <a:rPr lang="en-GB" sz="1400">
                <a:solidFill>
                  <a:srgbClr val="000000"/>
                </a:solidFill>
              </a:rPr>
              <a:t>  country      year  cases population</a:t>
            </a:r>
          </a:p>
          <a:p>
            <a:r>
              <a:rPr lang="en-GB" sz="1400" i="1">
                <a:solidFill>
                  <a:srgbClr val="B7A9B6"/>
                </a:solidFill>
              </a:rPr>
              <a:t>  &lt;chr&gt;       &lt;int&gt;  &lt;int&gt;      &lt;int&gt;</a:t>
            </a:r>
          </a:p>
          <a:p>
            <a:r>
              <a:rPr lang="en-GB" sz="1400">
                <a:solidFill>
                  <a:srgbClr val="000000"/>
                </a:solidFill>
              </a:rPr>
              <a:t>1 Afghanistan  1999    745   19987071</a:t>
            </a:r>
          </a:p>
          <a:p>
            <a:r>
              <a:rPr lang="en-GB" sz="1400">
                <a:solidFill>
                  <a:srgbClr val="000000"/>
                </a:solidFill>
              </a:rPr>
              <a:t>2 Afghanistan  2000   2666   20595360</a:t>
            </a:r>
          </a:p>
          <a:p>
            <a:r>
              <a:rPr lang="en-GB" sz="1400">
                <a:solidFill>
                  <a:srgbClr val="000000"/>
                </a:solidFill>
              </a:rPr>
              <a:t>3 Brazil       1999  37737  172006362</a:t>
            </a:r>
          </a:p>
          <a:p>
            <a:r>
              <a:rPr lang="en-GB" sz="1400">
                <a:solidFill>
                  <a:srgbClr val="000000"/>
                </a:solidFill>
              </a:rPr>
              <a:t>4 Brazil       2000  80488  174504898</a:t>
            </a:r>
          </a:p>
          <a:p>
            <a:r>
              <a:rPr lang="en-GB" sz="1400">
                <a:solidFill>
                  <a:srgbClr val="000000"/>
                </a:solidFill>
              </a:rPr>
              <a:t>5 China        1999 212258 1272915272</a:t>
            </a:r>
          </a:p>
          <a:p>
            <a:r>
              <a:rPr lang="en-GB" sz="1400">
                <a:solidFill>
                  <a:srgbClr val="000000"/>
                </a:solidFill>
              </a:rPr>
              <a:t>6 China        2000 213766 1280428583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D5F75E9-CFAB-EB40-35AE-850A7F52BD5F}"/>
              </a:ext>
            </a:extLst>
          </p:cNvPr>
          <p:cNvSpPr txBox="1"/>
          <p:nvPr/>
        </p:nvSpPr>
        <p:spPr>
          <a:xfrm>
            <a:off x="5672499" y="1619858"/>
            <a:ext cx="4499942" cy="3108543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 wrap="square" rtlCol="0">
            <a:spAutoFit/>
          </a:bodyPr>
          <a:lstStyle>
            <a:defPPr>
              <a:defRPr lang="nl-BE"/>
            </a:defPPr>
            <a:lvl1pPr>
              <a:defRPr sz="1600">
                <a:solidFill>
                  <a:srgbClr val="2306F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r>
              <a:rPr lang="en-GB" sz="1400">
                <a:solidFill>
                  <a:srgbClr val="000000"/>
                </a:solidFill>
              </a:rPr>
              <a:t>   country      year type            count</a:t>
            </a:r>
          </a:p>
          <a:p>
            <a:r>
              <a:rPr lang="en-GB" sz="1400" i="1">
                <a:solidFill>
                  <a:srgbClr val="B7A9B6"/>
                </a:solidFill>
              </a:rPr>
              <a:t>   &lt;</a:t>
            </a:r>
            <a:r>
              <a:rPr lang="en-GB" sz="1400" i="1" err="1">
                <a:solidFill>
                  <a:srgbClr val="B7A9B6"/>
                </a:solidFill>
              </a:rPr>
              <a:t>chr</a:t>
            </a:r>
            <a:r>
              <a:rPr lang="en-GB" sz="1400" i="1">
                <a:solidFill>
                  <a:srgbClr val="B7A9B6"/>
                </a:solidFill>
              </a:rPr>
              <a:t>&gt;       &lt;int&gt; &lt;</a:t>
            </a:r>
            <a:r>
              <a:rPr lang="en-GB" sz="1400" i="1" err="1">
                <a:solidFill>
                  <a:srgbClr val="B7A9B6"/>
                </a:solidFill>
              </a:rPr>
              <a:t>chr</a:t>
            </a:r>
            <a:r>
              <a:rPr lang="en-GB" sz="1400" i="1">
                <a:solidFill>
                  <a:srgbClr val="B7A9B6"/>
                </a:solidFill>
              </a:rPr>
              <a:t>&gt;           &lt;int&gt;</a:t>
            </a:r>
          </a:p>
          <a:p>
            <a:r>
              <a:rPr lang="en-GB" sz="1400">
                <a:solidFill>
                  <a:srgbClr val="000000"/>
                </a:solidFill>
              </a:rPr>
              <a:t> 1 Afghanistan  1999 cases             745</a:t>
            </a:r>
          </a:p>
          <a:p>
            <a:r>
              <a:rPr lang="en-GB" sz="1400">
                <a:solidFill>
                  <a:srgbClr val="000000"/>
                </a:solidFill>
              </a:rPr>
              <a:t> 2 Afghanistan  1999 population   19987071</a:t>
            </a:r>
          </a:p>
          <a:p>
            <a:r>
              <a:rPr lang="en-GB" sz="1400">
                <a:solidFill>
                  <a:srgbClr val="000000"/>
                </a:solidFill>
              </a:rPr>
              <a:t> 3 Afghanistan  2000 cases            2666</a:t>
            </a:r>
          </a:p>
          <a:p>
            <a:r>
              <a:rPr lang="en-GB" sz="1400">
                <a:solidFill>
                  <a:srgbClr val="000000"/>
                </a:solidFill>
              </a:rPr>
              <a:t> 4 Afghanistan  2000 population   20595360</a:t>
            </a:r>
          </a:p>
          <a:p>
            <a:r>
              <a:rPr lang="en-GB" sz="1400">
                <a:solidFill>
                  <a:srgbClr val="000000"/>
                </a:solidFill>
              </a:rPr>
              <a:t> 5 Brazil       1999 cases           37737</a:t>
            </a:r>
          </a:p>
          <a:p>
            <a:r>
              <a:rPr lang="en-GB" sz="1400">
                <a:solidFill>
                  <a:srgbClr val="000000"/>
                </a:solidFill>
              </a:rPr>
              <a:t> 6 Brazil       1999 population  172006362</a:t>
            </a:r>
          </a:p>
          <a:p>
            <a:r>
              <a:rPr lang="en-GB" sz="1400">
                <a:solidFill>
                  <a:srgbClr val="000000"/>
                </a:solidFill>
              </a:rPr>
              <a:t> 7 Brazil       2000 cases           80488</a:t>
            </a:r>
          </a:p>
          <a:p>
            <a:r>
              <a:rPr lang="en-GB" sz="1400">
                <a:solidFill>
                  <a:srgbClr val="000000"/>
                </a:solidFill>
              </a:rPr>
              <a:t> 8 Brazil       2000 population  174504898</a:t>
            </a:r>
          </a:p>
          <a:p>
            <a:r>
              <a:rPr lang="en-GB" sz="1400">
                <a:solidFill>
                  <a:srgbClr val="000000"/>
                </a:solidFill>
              </a:rPr>
              <a:t> 9 China        1999 cases          212258</a:t>
            </a:r>
          </a:p>
          <a:p>
            <a:r>
              <a:rPr lang="en-GB" sz="1400">
                <a:solidFill>
                  <a:srgbClr val="000000"/>
                </a:solidFill>
              </a:rPr>
              <a:t>10 China        1999 population 1272915272</a:t>
            </a:r>
          </a:p>
          <a:p>
            <a:r>
              <a:rPr lang="en-GB" sz="1400">
                <a:solidFill>
                  <a:srgbClr val="000000"/>
                </a:solidFill>
              </a:rPr>
              <a:t>11 China        2000 cases          213766</a:t>
            </a:r>
          </a:p>
          <a:p>
            <a:r>
              <a:rPr lang="en-GB" sz="1400">
                <a:solidFill>
                  <a:srgbClr val="000000"/>
                </a:solidFill>
              </a:rPr>
              <a:t>12 China        2000 population 1280428583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33481F-46B6-A544-A757-E1FE4174962E}"/>
              </a:ext>
            </a:extLst>
          </p:cNvPr>
          <p:cNvSpPr txBox="1"/>
          <p:nvPr/>
        </p:nvSpPr>
        <p:spPr>
          <a:xfrm>
            <a:off x="822354" y="3832012"/>
            <a:ext cx="4059627" cy="1815882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 wrap="square" rtlCol="0">
            <a:spAutoFit/>
          </a:bodyPr>
          <a:lstStyle>
            <a:defPPr>
              <a:defRPr lang="nl-BE"/>
            </a:defPPr>
            <a:lvl1pPr>
              <a:defRPr sz="1600">
                <a:solidFill>
                  <a:srgbClr val="2306F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r>
              <a:rPr lang="en-GB" sz="1400">
                <a:solidFill>
                  <a:srgbClr val="000000"/>
                </a:solidFill>
              </a:rPr>
              <a:t>  country      year rate             </a:t>
            </a:r>
          </a:p>
          <a:p>
            <a:r>
              <a:rPr lang="en-GB" sz="1400" i="1">
                <a:solidFill>
                  <a:srgbClr val="B7A9B6"/>
                </a:solidFill>
              </a:rPr>
              <a:t>* &lt;chr&gt;       &lt;int&gt; &lt;chr&gt;            </a:t>
            </a:r>
          </a:p>
          <a:p>
            <a:r>
              <a:rPr lang="en-GB" sz="1400">
                <a:solidFill>
                  <a:srgbClr val="000000"/>
                </a:solidFill>
              </a:rPr>
              <a:t>1 Afghanistan  1999 745/19987071     </a:t>
            </a:r>
          </a:p>
          <a:p>
            <a:r>
              <a:rPr lang="en-GB" sz="1400">
                <a:solidFill>
                  <a:srgbClr val="000000"/>
                </a:solidFill>
              </a:rPr>
              <a:t>2 Afghanistan  2000 2666/20595360    </a:t>
            </a:r>
          </a:p>
          <a:p>
            <a:r>
              <a:rPr lang="en-GB" sz="1400">
                <a:solidFill>
                  <a:srgbClr val="000000"/>
                </a:solidFill>
              </a:rPr>
              <a:t>3 Brazil       1999 37737/172006362  </a:t>
            </a:r>
          </a:p>
          <a:p>
            <a:r>
              <a:rPr lang="en-GB" sz="1400">
                <a:solidFill>
                  <a:srgbClr val="000000"/>
                </a:solidFill>
              </a:rPr>
              <a:t>4 Brazil       2000 80488/174504898  </a:t>
            </a:r>
          </a:p>
          <a:p>
            <a:r>
              <a:rPr lang="en-GB" sz="1400">
                <a:solidFill>
                  <a:srgbClr val="000000"/>
                </a:solidFill>
              </a:rPr>
              <a:t>5 China        1999 212258/1272915272</a:t>
            </a:r>
          </a:p>
          <a:p>
            <a:r>
              <a:rPr lang="en-GB" sz="1400">
                <a:solidFill>
                  <a:srgbClr val="000000"/>
                </a:solidFill>
              </a:rPr>
              <a:t>6 China        2000 213766/1280428583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7997F4B-5BF7-3352-779D-32727EA03727}"/>
              </a:ext>
            </a:extLst>
          </p:cNvPr>
          <p:cNvSpPr txBox="1"/>
          <p:nvPr/>
        </p:nvSpPr>
        <p:spPr>
          <a:xfrm>
            <a:off x="8894973" y="5063120"/>
            <a:ext cx="3297027" cy="1169551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 wrap="square" rtlCol="0">
            <a:spAutoFit/>
          </a:bodyPr>
          <a:lstStyle>
            <a:defPPr>
              <a:defRPr lang="nl-BE"/>
            </a:defPPr>
            <a:lvl1pPr>
              <a:defRPr sz="1600">
                <a:solidFill>
                  <a:srgbClr val="2306F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r>
              <a:rPr lang="en-GB" sz="1400">
                <a:solidFill>
                  <a:srgbClr val="000000"/>
                </a:solidFill>
              </a:rPr>
              <a:t>  country     `1999` `2000`</a:t>
            </a:r>
          </a:p>
          <a:p>
            <a:r>
              <a:rPr lang="en-GB" sz="1400">
                <a:solidFill>
                  <a:srgbClr val="000000"/>
                </a:solidFill>
              </a:rPr>
              <a:t>* &lt;</a:t>
            </a:r>
            <a:r>
              <a:rPr lang="en-GB" sz="1400" err="1">
                <a:solidFill>
                  <a:srgbClr val="000000"/>
                </a:solidFill>
              </a:rPr>
              <a:t>chr</a:t>
            </a:r>
            <a:r>
              <a:rPr lang="en-GB" sz="1400">
                <a:solidFill>
                  <a:srgbClr val="000000"/>
                </a:solidFill>
              </a:rPr>
              <a:t>&gt;        &lt;int&gt;  &lt;int&gt;</a:t>
            </a:r>
          </a:p>
          <a:p>
            <a:r>
              <a:rPr lang="en-GB" sz="1400">
                <a:solidFill>
                  <a:srgbClr val="000000"/>
                </a:solidFill>
              </a:rPr>
              <a:t>1 Afghanistan    745   2666</a:t>
            </a:r>
          </a:p>
          <a:p>
            <a:r>
              <a:rPr lang="en-GB" sz="1400">
                <a:solidFill>
                  <a:srgbClr val="000000"/>
                </a:solidFill>
              </a:rPr>
              <a:t>2 Brazil       37737  80488</a:t>
            </a:r>
          </a:p>
          <a:p>
            <a:r>
              <a:rPr lang="en-GB" sz="1400">
                <a:solidFill>
                  <a:srgbClr val="000000"/>
                </a:solidFill>
              </a:rPr>
              <a:t>3 China       212258 213766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E0E00AD-52AD-A09F-A3FE-DD4239297FAF}"/>
              </a:ext>
            </a:extLst>
          </p:cNvPr>
          <p:cNvSpPr txBox="1"/>
          <p:nvPr/>
        </p:nvSpPr>
        <p:spPr>
          <a:xfrm>
            <a:off x="5214827" y="5063120"/>
            <a:ext cx="3680146" cy="1169551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 wrap="square" rtlCol="0">
            <a:spAutoFit/>
          </a:bodyPr>
          <a:lstStyle>
            <a:defPPr>
              <a:defRPr lang="nl-BE"/>
            </a:defPPr>
            <a:lvl1pPr>
              <a:defRPr sz="1600">
                <a:solidFill>
                  <a:srgbClr val="2306F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r>
              <a:rPr lang="en-GB" sz="1400">
                <a:solidFill>
                  <a:srgbClr val="000000"/>
                </a:solidFill>
              </a:rPr>
              <a:t>  country         `1999`     `2000`</a:t>
            </a:r>
          </a:p>
          <a:p>
            <a:r>
              <a:rPr lang="en-GB" sz="1400">
                <a:solidFill>
                  <a:srgbClr val="000000"/>
                </a:solidFill>
              </a:rPr>
              <a:t>* &lt;chr&gt;            &lt;int&gt;      &lt;int&gt;</a:t>
            </a:r>
          </a:p>
          <a:p>
            <a:r>
              <a:rPr lang="en-GB" sz="1400">
                <a:solidFill>
                  <a:srgbClr val="000000"/>
                </a:solidFill>
              </a:rPr>
              <a:t>1 Afghanistan   19987071   20595360</a:t>
            </a:r>
          </a:p>
          <a:p>
            <a:r>
              <a:rPr lang="en-GB" sz="1400">
                <a:solidFill>
                  <a:srgbClr val="000000"/>
                </a:solidFill>
              </a:rPr>
              <a:t>2 Brazil       172006362  174504898</a:t>
            </a:r>
          </a:p>
          <a:p>
            <a:r>
              <a:rPr lang="en-GB" sz="1400">
                <a:solidFill>
                  <a:srgbClr val="000000"/>
                </a:solidFill>
              </a:rPr>
              <a:t>3 China       1272915272 1280428583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ACA87372-0EF7-A9A6-59F7-3108C63BF6D4}"/>
              </a:ext>
            </a:extLst>
          </p:cNvPr>
          <p:cNvSpPr/>
          <p:nvPr/>
        </p:nvSpPr>
        <p:spPr>
          <a:xfrm>
            <a:off x="343542" y="1764131"/>
            <a:ext cx="320511" cy="2909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BE"/>
              <a:t>1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4E9EC5AE-7A7F-8ACC-D956-5C2ED95222D9}"/>
              </a:ext>
            </a:extLst>
          </p:cNvPr>
          <p:cNvSpPr/>
          <p:nvPr/>
        </p:nvSpPr>
        <p:spPr>
          <a:xfrm>
            <a:off x="5137196" y="1613118"/>
            <a:ext cx="320511" cy="31939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BE"/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B572E41-7BB2-CF80-4AD8-386038DCB2C6}"/>
              </a:ext>
            </a:extLst>
          </p:cNvPr>
          <p:cNvSpPr/>
          <p:nvPr/>
        </p:nvSpPr>
        <p:spPr>
          <a:xfrm>
            <a:off x="343542" y="3915732"/>
            <a:ext cx="320511" cy="2909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BE"/>
              <a:t>3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0A21350-EA48-9306-4646-C2FBE480B532}"/>
              </a:ext>
            </a:extLst>
          </p:cNvPr>
          <p:cNvSpPr/>
          <p:nvPr/>
        </p:nvSpPr>
        <p:spPr>
          <a:xfrm>
            <a:off x="5214827" y="4634573"/>
            <a:ext cx="320511" cy="2909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BE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3443429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B9B9DB0-AD21-954A-9235-C50924886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noProof="0" dirty="0"/>
              <a:t>Each value must have its own cell</a:t>
            </a:r>
            <a:endParaRPr lang="en-US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FDF702-68FC-F645-8BB5-B31E03D26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23</a:t>
            </a:fld>
            <a:endParaRPr lang="nl-BE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6CE32B8-8E72-944F-B532-D6287AB42CE7}"/>
              </a:ext>
            </a:extLst>
          </p:cNvPr>
          <p:cNvSpPr txBox="1"/>
          <p:nvPr/>
        </p:nvSpPr>
        <p:spPr>
          <a:xfrm>
            <a:off x="1149531" y="32657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BE"/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228986BC-6F8D-7144-97D7-FB57AE01933F}"/>
              </a:ext>
            </a:extLst>
          </p:cNvPr>
          <p:cNvSpPr txBox="1">
            <a:spLocks/>
          </p:cNvSpPr>
          <p:nvPr/>
        </p:nvSpPr>
        <p:spPr>
          <a:xfrm>
            <a:off x="4072589" y="1152644"/>
            <a:ext cx="4064399" cy="4428000"/>
          </a:xfrm>
          <a:prstGeom prst="rect">
            <a:avLst/>
          </a:prstGeom>
          <a:ln>
            <a:noFill/>
          </a:ln>
        </p:spPr>
        <p:txBody>
          <a:bodyPr vert="horz" lIns="0" tIns="252000" rIns="0" bIns="144000" rtlCol="0">
            <a:normAutofit/>
          </a:bodyPr>
          <a:lstStyle>
            <a:lvl1pPr marL="323850" indent="-32385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Pct val="90000"/>
              <a:buFont typeface="Verdana" pitchFamily="34" charset="0"/>
              <a:buChar char="•"/>
              <a:defRPr sz="3000" kern="120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1pPr>
            <a:lvl2pPr marL="723900" indent="-3683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Font typeface="Arial" pitchFamily="34" charset="0"/>
              <a:buChar char="−"/>
              <a:defRPr sz="2500" kern="120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2pPr>
            <a:lvl3pPr marL="982663" indent="-258763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Font typeface="Arial" pitchFamily="34" charset="0"/>
              <a:buChar char="•"/>
              <a:defRPr sz="2300" kern="120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3pPr>
            <a:lvl4pPr marL="1255713" indent="-27305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Font typeface="Arial" pitchFamily="34" charset="0"/>
              <a:buChar char="»"/>
              <a:defRPr sz="2000" kern="120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4pPr>
            <a:lvl5pPr marL="1609725" indent="-258763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Font typeface="Arial" pitchFamily="34" charset="0"/>
              <a:buNone/>
              <a:defRPr sz="1700" kern="120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Verdana" pitchFamily="34" charset="0"/>
              <a:buNone/>
            </a:pPr>
            <a:endParaRPr lang="en-BE"/>
          </a:p>
          <a:p>
            <a:pPr marL="0" indent="0">
              <a:buFont typeface="Verdana" pitchFamily="34" charset="0"/>
              <a:buNone/>
            </a:pPr>
            <a:endParaRPr lang="en-BE"/>
          </a:p>
          <a:p>
            <a:pPr marL="0" indent="0">
              <a:buFont typeface="Verdana" pitchFamily="34" charset="0"/>
              <a:buNone/>
            </a:pPr>
            <a:endParaRPr lang="en-BE"/>
          </a:p>
          <a:p>
            <a:pPr marL="0" indent="0">
              <a:buFont typeface="Verdana" pitchFamily="34" charset="0"/>
              <a:buNone/>
            </a:pPr>
            <a:endParaRPr lang="en-BE"/>
          </a:p>
          <a:p>
            <a:pPr marL="0" indent="0">
              <a:buFont typeface="Verdana" pitchFamily="34" charset="0"/>
              <a:buNone/>
            </a:pPr>
            <a:br>
              <a:rPr lang="en-BE"/>
            </a:br>
            <a:endParaRPr lang="en-BE"/>
          </a:p>
        </p:txBody>
      </p: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4163AFD7-B9F8-AC47-977D-C58A07A6E9C0}"/>
              </a:ext>
            </a:extLst>
          </p:cNvPr>
          <p:cNvSpPr txBox="1">
            <a:spLocks/>
          </p:cNvSpPr>
          <p:nvPr/>
        </p:nvSpPr>
        <p:spPr>
          <a:xfrm>
            <a:off x="8136389" y="1152000"/>
            <a:ext cx="4064399" cy="4428000"/>
          </a:xfrm>
          <a:prstGeom prst="rect">
            <a:avLst/>
          </a:prstGeom>
          <a:ln>
            <a:noFill/>
          </a:ln>
        </p:spPr>
        <p:txBody>
          <a:bodyPr vert="horz" lIns="0" tIns="252000" rIns="0" bIns="144000" rtlCol="0">
            <a:normAutofit/>
          </a:bodyPr>
          <a:lstStyle>
            <a:lvl1pPr marL="323850" indent="-32385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Pct val="90000"/>
              <a:buFont typeface="Verdana" pitchFamily="34" charset="0"/>
              <a:buChar char="•"/>
              <a:defRPr sz="3000" kern="120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1pPr>
            <a:lvl2pPr marL="723900" indent="-3683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Font typeface="Arial" pitchFamily="34" charset="0"/>
              <a:buChar char="−"/>
              <a:defRPr sz="2500" kern="120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2pPr>
            <a:lvl3pPr marL="982663" indent="-258763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Font typeface="Arial" pitchFamily="34" charset="0"/>
              <a:buChar char="•"/>
              <a:defRPr sz="2300" kern="120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3pPr>
            <a:lvl4pPr marL="1255713" indent="-27305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Font typeface="Arial" pitchFamily="34" charset="0"/>
              <a:buChar char="»"/>
              <a:defRPr sz="2000" kern="120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4pPr>
            <a:lvl5pPr marL="1609725" indent="-258763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Font typeface="Arial" pitchFamily="34" charset="0"/>
              <a:buNone/>
              <a:defRPr sz="1700" kern="120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Verdana" pitchFamily="34" charset="0"/>
              <a:buNone/>
            </a:pPr>
            <a:endParaRPr lang="en-BE"/>
          </a:p>
          <a:p>
            <a:pPr marL="0" indent="0">
              <a:buFont typeface="Verdana" pitchFamily="34" charset="0"/>
              <a:buNone/>
            </a:pPr>
            <a:endParaRPr lang="en-BE"/>
          </a:p>
          <a:p>
            <a:pPr marL="0" indent="0">
              <a:buFont typeface="Verdana" pitchFamily="34" charset="0"/>
              <a:buNone/>
            </a:pPr>
            <a:endParaRPr lang="en-BE"/>
          </a:p>
          <a:p>
            <a:pPr marL="0" indent="0">
              <a:buFont typeface="Verdana" pitchFamily="34" charset="0"/>
              <a:buNone/>
            </a:pPr>
            <a:endParaRPr lang="en-BE"/>
          </a:p>
          <a:p>
            <a:pPr marL="0" indent="0">
              <a:buFont typeface="Verdana" pitchFamily="34" charset="0"/>
              <a:buNone/>
            </a:pPr>
            <a:br>
              <a:rPr lang="en-BE"/>
            </a:br>
            <a:endParaRPr lang="en-BE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7CB46E8-93C2-C044-BD2E-9F5BBD277297}"/>
              </a:ext>
            </a:extLst>
          </p:cNvPr>
          <p:cNvSpPr txBox="1"/>
          <p:nvPr/>
        </p:nvSpPr>
        <p:spPr>
          <a:xfrm>
            <a:off x="499214" y="1534765"/>
            <a:ext cx="3949221" cy="1815882"/>
          </a:xfrm>
          <a:prstGeom prst="rect">
            <a:avLst/>
          </a:prstGeom>
          <a:solidFill>
            <a:srgbClr val="0C720B">
              <a:alpha val="25490"/>
            </a:srgbClr>
          </a:solidFill>
          <a:ln w="12700">
            <a:solidFill>
              <a:srgbClr val="000000"/>
            </a:solidFill>
          </a:ln>
        </p:spPr>
        <p:txBody>
          <a:bodyPr wrap="square" rtlCol="0">
            <a:spAutoFit/>
          </a:bodyPr>
          <a:lstStyle>
            <a:defPPr>
              <a:defRPr lang="nl-BE"/>
            </a:defPPr>
            <a:lvl1pPr>
              <a:defRPr sz="1600">
                <a:solidFill>
                  <a:srgbClr val="2306F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r>
              <a:rPr lang="en-GB" sz="1400">
                <a:solidFill>
                  <a:srgbClr val="000000"/>
                </a:solidFill>
              </a:rPr>
              <a:t>  country      year  cases population</a:t>
            </a:r>
          </a:p>
          <a:p>
            <a:r>
              <a:rPr lang="en-GB" sz="1400" i="1">
                <a:solidFill>
                  <a:srgbClr val="B7A9B6"/>
                </a:solidFill>
              </a:rPr>
              <a:t>  &lt;</a:t>
            </a:r>
            <a:r>
              <a:rPr lang="en-GB" sz="1400" i="1" err="1">
                <a:solidFill>
                  <a:srgbClr val="B7A9B6"/>
                </a:solidFill>
              </a:rPr>
              <a:t>chr</a:t>
            </a:r>
            <a:r>
              <a:rPr lang="en-GB" sz="1400" i="1">
                <a:solidFill>
                  <a:srgbClr val="B7A9B6"/>
                </a:solidFill>
              </a:rPr>
              <a:t>&gt;       &lt;int&gt;  &lt;int&gt;      &lt;int&gt;</a:t>
            </a:r>
          </a:p>
          <a:p>
            <a:r>
              <a:rPr lang="en-GB" sz="1400">
                <a:solidFill>
                  <a:srgbClr val="000000"/>
                </a:solidFill>
              </a:rPr>
              <a:t>1 Afghanistan  1999    745   19987071</a:t>
            </a:r>
          </a:p>
          <a:p>
            <a:r>
              <a:rPr lang="en-GB" sz="1400">
                <a:solidFill>
                  <a:srgbClr val="000000"/>
                </a:solidFill>
              </a:rPr>
              <a:t>2 Afghanistan  2000   2666   20595360</a:t>
            </a:r>
          </a:p>
          <a:p>
            <a:r>
              <a:rPr lang="en-GB" sz="1400">
                <a:solidFill>
                  <a:srgbClr val="000000"/>
                </a:solidFill>
              </a:rPr>
              <a:t>3 Brazil       1999  37737  172006362</a:t>
            </a:r>
          </a:p>
          <a:p>
            <a:r>
              <a:rPr lang="en-GB" sz="1400">
                <a:solidFill>
                  <a:srgbClr val="000000"/>
                </a:solidFill>
              </a:rPr>
              <a:t>4 Brazil       2000  80488  174504898</a:t>
            </a:r>
          </a:p>
          <a:p>
            <a:r>
              <a:rPr lang="en-GB" sz="1400">
                <a:solidFill>
                  <a:srgbClr val="000000"/>
                </a:solidFill>
              </a:rPr>
              <a:t>5 China        1999 212258 1272915272</a:t>
            </a:r>
          </a:p>
          <a:p>
            <a:r>
              <a:rPr lang="en-GB" sz="1400">
                <a:solidFill>
                  <a:srgbClr val="000000"/>
                </a:solidFill>
              </a:rPr>
              <a:t>6 China        2000 213766 1280428583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B74D426-4CA0-6D44-AA36-997D791E29E4}"/>
              </a:ext>
            </a:extLst>
          </p:cNvPr>
          <p:cNvSpPr txBox="1"/>
          <p:nvPr/>
        </p:nvSpPr>
        <p:spPr>
          <a:xfrm>
            <a:off x="4895101" y="1546018"/>
            <a:ext cx="4499942" cy="3108543"/>
          </a:xfrm>
          <a:prstGeom prst="rect">
            <a:avLst/>
          </a:prstGeom>
          <a:solidFill>
            <a:srgbClr val="0C720B">
              <a:alpha val="25490"/>
            </a:srgbClr>
          </a:solidFill>
          <a:ln w="12700">
            <a:solidFill>
              <a:srgbClr val="000000"/>
            </a:solidFill>
          </a:ln>
        </p:spPr>
        <p:txBody>
          <a:bodyPr wrap="square" rtlCol="0">
            <a:spAutoFit/>
          </a:bodyPr>
          <a:lstStyle>
            <a:defPPr>
              <a:defRPr lang="nl-BE"/>
            </a:defPPr>
            <a:lvl1pPr>
              <a:defRPr sz="1600">
                <a:solidFill>
                  <a:srgbClr val="2306F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r>
              <a:rPr lang="en-GB" sz="1400">
                <a:solidFill>
                  <a:srgbClr val="000000"/>
                </a:solidFill>
              </a:rPr>
              <a:t>   country      year type            count</a:t>
            </a:r>
          </a:p>
          <a:p>
            <a:r>
              <a:rPr lang="en-GB" sz="1400" i="1">
                <a:solidFill>
                  <a:srgbClr val="B7A9B6"/>
                </a:solidFill>
              </a:rPr>
              <a:t>   &lt;</a:t>
            </a:r>
            <a:r>
              <a:rPr lang="en-GB" sz="1400" i="1" err="1">
                <a:solidFill>
                  <a:srgbClr val="B7A9B6"/>
                </a:solidFill>
              </a:rPr>
              <a:t>chr</a:t>
            </a:r>
            <a:r>
              <a:rPr lang="en-GB" sz="1400" i="1">
                <a:solidFill>
                  <a:srgbClr val="B7A9B6"/>
                </a:solidFill>
              </a:rPr>
              <a:t>&gt;       &lt;int&gt; &lt;</a:t>
            </a:r>
            <a:r>
              <a:rPr lang="en-GB" sz="1400" i="1" err="1">
                <a:solidFill>
                  <a:srgbClr val="B7A9B6"/>
                </a:solidFill>
              </a:rPr>
              <a:t>chr</a:t>
            </a:r>
            <a:r>
              <a:rPr lang="en-GB" sz="1400" i="1">
                <a:solidFill>
                  <a:srgbClr val="B7A9B6"/>
                </a:solidFill>
              </a:rPr>
              <a:t>&gt;           &lt;int&gt;</a:t>
            </a:r>
          </a:p>
          <a:p>
            <a:r>
              <a:rPr lang="en-GB" sz="1400">
                <a:solidFill>
                  <a:srgbClr val="000000"/>
                </a:solidFill>
              </a:rPr>
              <a:t> 1 Afghanistan  1999 cases             745</a:t>
            </a:r>
          </a:p>
          <a:p>
            <a:r>
              <a:rPr lang="en-GB" sz="1400">
                <a:solidFill>
                  <a:srgbClr val="000000"/>
                </a:solidFill>
              </a:rPr>
              <a:t> 2 Afghanistan  1999 population   19987071</a:t>
            </a:r>
          </a:p>
          <a:p>
            <a:r>
              <a:rPr lang="en-GB" sz="1400">
                <a:solidFill>
                  <a:srgbClr val="000000"/>
                </a:solidFill>
              </a:rPr>
              <a:t> 3 Afghanistan  2000 cases            2666</a:t>
            </a:r>
          </a:p>
          <a:p>
            <a:r>
              <a:rPr lang="en-GB" sz="1400">
                <a:solidFill>
                  <a:srgbClr val="000000"/>
                </a:solidFill>
              </a:rPr>
              <a:t> 4 Afghanistan  2000 population   20595360</a:t>
            </a:r>
          </a:p>
          <a:p>
            <a:r>
              <a:rPr lang="en-GB" sz="1400">
                <a:solidFill>
                  <a:srgbClr val="000000"/>
                </a:solidFill>
              </a:rPr>
              <a:t> 5 Brazil       1999 cases           37737</a:t>
            </a:r>
          </a:p>
          <a:p>
            <a:r>
              <a:rPr lang="en-GB" sz="1400">
                <a:solidFill>
                  <a:srgbClr val="000000"/>
                </a:solidFill>
              </a:rPr>
              <a:t> 6 Brazil       1999 population  172006362</a:t>
            </a:r>
          </a:p>
          <a:p>
            <a:r>
              <a:rPr lang="en-GB" sz="1400">
                <a:solidFill>
                  <a:srgbClr val="000000"/>
                </a:solidFill>
              </a:rPr>
              <a:t> 7 Brazil       2000 cases           80488</a:t>
            </a:r>
          </a:p>
          <a:p>
            <a:r>
              <a:rPr lang="en-GB" sz="1400">
                <a:solidFill>
                  <a:srgbClr val="000000"/>
                </a:solidFill>
              </a:rPr>
              <a:t> 8 Brazil       2000 population  174504898</a:t>
            </a:r>
          </a:p>
          <a:p>
            <a:r>
              <a:rPr lang="en-GB" sz="1400">
                <a:solidFill>
                  <a:srgbClr val="000000"/>
                </a:solidFill>
              </a:rPr>
              <a:t> 9 China        1999 cases          212258</a:t>
            </a:r>
          </a:p>
          <a:p>
            <a:r>
              <a:rPr lang="en-GB" sz="1400">
                <a:solidFill>
                  <a:srgbClr val="000000"/>
                </a:solidFill>
              </a:rPr>
              <a:t>10 China        1999 population 1272915272</a:t>
            </a:r>
          </a:p>
          <a:p>
            <a:r>
              <a:rPr lang="en-GB" sz="1400">
                <a:solidFill>
                  <a:srgbClr val="000000"/>
                </a:solidFill>
              </a:rPr>
              <a:t>11 China        2000 cases          213766</a:t>
            </a:r>
          </a:p>
          <a:p>
            <a:r>
              <a:rPr lang="en-GB" sz="1400">
                <a:solidFill>
                  <a:srgbClr val="000000"/>
                </a:solidFill>
              </a:rPr>
              <a:t>12 China        2000 population 1280428583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E0E57CD-09A1-4E40-837D-0BC33DDBFCA1}"/>
              </a:ext>
            </a:extLst>
          </p:cNvPr>
          <p:cNvSpPr txBox="1"/>
          <p:nvPr/>
        </p:nvSpPr>
        <p:spPr>
          <a:xfrm>
            <a:off x="497248" y="3507354"/>
            <a:ext cx="4059627" cy="1815882"/>
          </a:xfrm>
          <a:prstGeom prst="rect">
            <a:avLst/>
          </a:prstGeom>
          <a:solidFill>
            <a:srgbClr val="EC4B2E">
              <a:alpha val="24706"/>
            </a:srgbClr>
          </a:solidFill>
          <a:ln w="12700">
            <a:solidFill>
              <a:srgbClr val="000000"/>
            </a:solidFill>
          </a:ln>
        </p:spPr>
        <p:txBody>
          <a:bodyPr wrap="square" rtlCol="0">
            <a:spAutoFit/>
          </a:bodyPr>
          <a:lstStyle>
            <a:defPPr>
              <a:defRPr lang="nl-BE"/>
            </a:defPPr>
            <a:lvl1pPr>
              <a:defRPr sz="1600">
                <a:solidFill>
                  <a:srgbClr val="2306F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r>
              <a:rPr lang="en-GB" sz="1400">
                <a:solidFill>
                  <a:srgbClr val="000000"/>
                </a:solidFill>
              </a:rPr>
              <a:t>  country      year rate             </a:t>
            </a:r>
          </a:p>
          <a:p>
            <a:r>
              <a:rPr lang="en-GB" sz="1400" i="1">
                <a:solidFill>
                  <a:srgbClr val="B7A9B6"/>
                </a:solidFill>
              </a:rPr>
              <a:t>* &lt;chr&gt;       &lt;int&gt; &lt;chr&gt;            </a:t>
            </a:r>
          </a:p>
          <a:p>
            <a:r>
              <a:rPr lang="en-GB" sz="1400">
                <a:solidFill>
                  <a:srgbClr val="000000"/>
                </a:solidFill>
              </a:rPr>
              <a:t>1 Afghanistan  1999 745/19987071     </a:t>
            </a:r>
          </a:p>
          <a:p>
            <a:r>
              <a:rPr lang="en-GB" sz="1400">
                <a:solidFill>
                  <a:srgbClr val="000000"/>
                </a:solidFill>
              </a:rPr>
              <a:t>2 Afghanistan  2000 2666/20595360    </a:t>
            </a:r>
          </a:p>
          <a:p>
            <a:r>
              <a:rPr lang="en-GB" sz="1400">
                <a:solidFill>
                  <a:srgbClr val="000000"/>
                </a:solidFill>
              </a:rPr>
              <a:t>3 Brazil       1999 37737/172006362  </a:t>
            </a:r>
          </a:p>
          <a:p>
            <a:r>
              <a:rPr lang="en-GB" sz="1400">
                <a:solidFill>
                  <a:srgbClr val="000000"/>
                </a:solidFill>
              </a:rPr>
              <a:t>4 Brazil       2000 80488/174504898  </a:t>
            </a:r>
          </a:p>
          <a:p>
            <a:r>
              <a:rPr lang="en-GB" sz="1400">
                <a:solidFill>
                  <a:srgbClr val="000000"/>
                </a:solidFill>
              </a:rPr>
              <a:t>5 China        1999 212258/1272915272</a:t>
            </a:r>
          </a:p>
          <a:p>
            <a:r>
              <a:rPr lang="en-GB" sz="1400">
                <a:solidFill>
                  <a:srgbClr val="000000"/>
                </a:solidFill>
              </a:rPr>
              <a:t>6 China        2000 213766/1280428583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C77FA09-48F4-E84D-834D-74A2AC10D15D}"/>
              </a:ext>
            </a:extLst>
          </p:cNvPr>
          <p:cNvSpPr txBox="1"/>
          <p:nvPr/>
        </p:nvSpPr>
        <p:spPr>
          <a:xfrm>
            <a:off x="8620675" y="4995810"/>
            <a:ext cx="3297027" cy="1169551"/>
          </a:xfrm>
          <a:prstGeom prst="rect">
            <a:avLst/>
          </a:prstGeom>
          <a:solidFill>
            <a:srgbClr val="0C720B">
              <a:alpha val="25490"/>
            </a:srgbClr>
          </a:solidFill>
          <a:ln w="12700">
            <a:solidFill>
              <a:srgbClr val="000000"/>
            </a:solidFill>
          </a:ln>
        </p:spPr>
        <p:txBody>
          <a:bodyPr wrap="square" rtlCol="0">
            <a:spAutoFit/>
          </a:bodyPr>
          <a:lstStyle>
            <a:defPPr>
              <a:defRPr lang="nl-BE"/>
            </a:defPPr>
            <a:lvl1pPr>
              <a:defRPr sz="1600">
                <a:solidFill>
                  <a:srgbClr val="2306F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r>
              <a:rPr lang="en-GB" sz="1400">
                <a:solidFill>
                  <a:srgbClr val="000000"/>
                </a:solidFill>
              </a:rPr>
              <a:t>  country     `1999` `2000`</a:t>
            </a:r>
          </a:p>
          <a:p>
            <a:r>
              <a:rPr lang="en-GB" sz="1400">
                <a:solidFill>
                  <a:srgbClr val="000000"/>
                </a:solidFill>
              </a:rPr>
              <a:t>* &lt;</a:t>
            </a:r>
            <a:r>
              <a:rPr lang="en-GB" sz="1400" err="1">
                <a:solidFill>
                  <a:srgbClr val="000000"/>
                </a:solidFill>
              </a:rPr>
              <a:t>chr</a:t>
            </a:r>
            <a:r>
              <a:rPr lang="en-GB" sz="1400">
                <a:solidFill>
                  <a:srgbClr val="000000"/>
                </a:solidFill>
              </a:rPr>
              <a:t>&gt;        &lt;int&gt;  &lt;int&gt;</a:t>
            </a:r>
          </a:p>
          <a:p>
            <a:r>
              <a:rPr lang="en-GB" sz="1400">
                <a:solidFill>
                  <a:srgbClr val="000000"/>
                </a:solidFill>
              </a:rPr>
              <a:t>1 Afghanistan    745   2666</a:t>
            </a:r>
          </a:p>
          <a:p>
            <a:r>
              <a:rPr lang="en-GB" sz="1400">
                <a:solidFill>
                  <a:srgbClr val="000000"/>
                </a:solidFill>
              </a:rPr>
              <a:t>2 Brazil       37737  80488</a:t>
            </a:r>
          </a:p>
          <a:p>
            <a:r>
              <a:rPr lang="en-GB" sz="1400">
                <a:solidFill>
                  <a:srgbClr val="000000"/>
                </a:solidFill>
              </a:rPr>
              <a:t>3 China       212258 213766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16D50CB-C088-554F-B589-AF3DFE138529}"/>
              </a:ext>
            </a:extLst>
          </p:cNvPr>
          <p:cNvSpPr txBox="1"/>
          <p:nvPr/>
        </p:nvSpPr>
        <p:spPr>
          <a:xfrm>
            <a:off x="4895101" y="4995810"/>
            <a:ext cx="3680146" cy="1169551"/>
          </a:xfrm>
          <a:prstGeom prst="rect">
            <a:avLst/>
          </a:prstGeom>
          <a:solidFill>
            <a:srgbClr val="0C720B">
              <a:alpha val="25490"/>
            </a:srgbClr>
          </a:solidFill>
          <a:ln w="12700">
            <a:solidFill>
              <a:srgbClr val="000000"/>
            </a:solidFill>
          </a:ln>
        </p:spPr>
        <p:txBody>
          <a:bodyPr wrap="square" rtlCol="0">
            <a:spAutoFit/>
          </a:bodyPr>
          <a:lstStyle>
            <a:defPPr>
              <a:defRPr lang="nl-BE"/>
            </a:defPPr>
            <a:lvl1pPr>
              <a:defRPr sz="1600">
                <a:solidFill>
                  <a:srgbClr val="2306F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r>
              <a:rPr lang="en-GB" sz="1400">
                <a:solidFill>
                  <a:srgbClr val="000000"/>
                </a:solidFill>
              </a:rPr>
              <a:t>  country         `1999`     `2000`</a:t>
            </a:r>
          </a:p>
          <a:p>
            <a:r>
              <a:rPr lang="en-GB" sz="1400">
                <a:solidFill>
                  <a:srgbClr val="000000"/>
                </a:solidFill>
              </a:rPr>
              <a:t>* &lt;</a:t>
            </a:r>
            <a:r>
              <a:rPr lang="en-GB" sz="1400" err="1">
                <a:solidFill>
                  <a:srgbClr val="000000"/>
                </a:solidFill>
              </a:rPr>
              <a:t>chr</a:t>
            </a:r>
            <a:r>
              <a:rPr lang="en-GB" sz="1400">
                <a:solidFill>
                  <a:srgbClr val="000000"/>
                </a:solidFill>
              </a:rPr>
              <a:t>&gt;            &lt;int&gt;      &lt;int&gt;</a:t>
            </a:r>
          </a:p>
          <a:p>
            <a:r>
              <a:rPr lang="en-GB" sz="1400">
                <a:solidFill>
                  <a:srgbClr val="000000"/>
                </a:solidFill>
              </a:rPr>
              <a:t>1 Afghanistan   19987071   20595360</a:t>
            </a:r>
          </a:p>
          <a:p>
            <a:r>
              <a:rPr lang="en-GB" sz="1400">
                <a:solidFill>
                  <a:srgbClr val="000000"/>
                </a:solidFill>
              </a:rPr>
              <a:t>2 Brazil       172006362  174504898</a:t>
            </a:r>
          </a:p>
          <a:p>
            <a:r>
              <a:rPr lang="en-GB" sz="1400">
                <a:solidFill>
                  <a:srgbClr val="000000"/>
                </a:solidFill>
              </a:rPr>
              <a:t>3 China       1272915272 1280428583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F24C1D1-AF9A-5649-A818-7E48E73F5252}"/>
              </a:ext>
            </a:extLst>
          </p:cNvPr>
          <p:cNvSpPr txBox="1"/>
          <p:nvPr/>
        </p:nvSpPr>
        <p:spPr>
          <a:xfrm>
            <a:off x="419759" y="5410723"/>
            <a:ext cx="51125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sz="1600">
                <a:solidFill>
                  <a:srgbClr val="FF0000"/>
                </a:solidFill>
              </a:rPr>
              <a:t>One cell contains two values</a:t>
            </a:r>
          </a:p>
        </p:txBody>
      </p:sp>
    </p:spTree>
    <p:extLst>
      <p:ext uri="{BB962C8B-B14F-4D97-AF65-F5344CB8AC3E}">
        <p14:creationId xmlns:p14="http://schemas.microsoft.com/office/powerpoint/2010/main" val="27772376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597B7-DB0B-E3C3-CDF1-11DD47F86C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Problems in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0C4CCA-D59E-33B9-2FBE-D83D26F61D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The data you get will have issues</a:t>
            </a:r>
          </a:p>
          <a:p>
            <a:pPr lvl="1"/>
            <a:r>
              <a:rPr lang="en-US" noProof="0" dirty="0"/>
              <a:t>Contains outliers</a:t>
            </a:r>
          </a:p>
          <a:p>
            <a:pPr lvl="1"/>
            <a:r>
              <a:rPr lang="en-US" noProof="0" dirty="0"/>
              <a:t>Ordinal and nominal (important to figure out)</a:t>
            </a:r>
          </a:p>
          <a:p>
            <a:pPr lvl="1"/>
            <a:r>
              <a:rPr lang="en-US" noProof="0" dirty="0"/>
              <a:t>Contains missing values</a:t>
            </a:r>
          </a:p>
          <a:p>
            <a:pPr lvl="1"/>
            <a:r>
              <a:rPr lang="en-US" noProof="0" dirty="0"/>
              <a:t>Has bias</a:t>
            </a:r>
          </a:p>
          <a:p>
            <a:endParaRPr lang="en-US" noProof="0" dirty="0"/>
          </a:p>
          <a:p>
            <a:pPr lvl="1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8756492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1C434-2476-7DDC-CE47-176B1133F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9CB492-4A61-9F53-B8AB-B3C983900D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Outliers are observations or data points that significantly deviate from the rest of the data, extreme values that are distinctively different from the majority of the dataset</a:t>
            </a:r>
          </a:p>
          <a:p>
            <a:pPr lvl="1"/>
            <a:r>
              <a:rPr lang="en-US" dirty="0"/>
              <a:t>Measurement errors</a:t>
            </a:r>
          </a:p>
          <a:p>
            <a:pPr lvl="1"/>
            <a:r>
              <a:rPr lang="en-US" dirty="0"/>
              <a:t>Data corruption</a:t>
            </a:r>
          </a:p>
          <a:p>
            <a:pPr lvl="1"/>
            <a:r>
              <a:rPr lang="en-US" dirty="0"/>
              <a:t>Genuinely unusual observations</a:t>
            </a: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Can distort the results of statistical analyses, leading to incorrect conclusions or misleading interpretations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E1FA13-48F4-9A86-7596-D3B4854F3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25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7006137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45CBD-D079-3012-6AD3-352064695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21520B-C2B2-664F-081B-FA907072F7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705" y="1550894"/>
            <a:ext cx="6657961" cy="4626069"/>
          </a:xfrm>
        </p:spPr>
        <p:txBody>
          <a:bodyPr/>
          <a:lstStyle/>
          <a:p>
            <a:r>
              <a:rPr lang="en-US" dirty="0"/>
              <a:t>This is the histogram for the Y-size of about 50.000 diamonds</a:t>
            </a:r>
          </a:p>
          <a:p>
            <a:r>
              <a:rPr lang="en-US" dirty="0"/>
              <a:t>All are between 3 and 10 mm, but why is the graph so big?</a:t>
            </a:r>
          </a:p>
          <a:p>
            <a:r>
              <a:rPr lang="en-US" dirty="0"/>
              <a:t>Because there is one diamond in the set with a Y-value of around 60</a:t>
            </a:r>
            <a:r>
              <a:rPr lang="en-BE" dirty="0"/>
              <a:t> mm</a:t>
            </a:r>
            <a:endParaRPr lang="en-US" dirty="0"/>
          </a:p>
          <a:p>
            <a:pPr lvl="1"/>
            <a:r>
              <a:rPr lang="en-US" dirty="0"/>
              <a:t>For reference: the biggest diamond in the world is 10x6 cm</a:t>
            </a:r>
          </a:p>
          <a:p>
            <a:pPr lvl="1"/>
            <a:r>
              <a:rPr lang="en-US" dirty="0"/>
              <a:t>This diamond’s price is $12k</a:t>
            </a:r>
          </a:p>
          <a:p>
            <a:pPr lvl="1"/>
            <a:r>
              <a:rPr lang="en-US" dirty="0"/>
              <a:t>(Something is wrong there)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AF0FC0-5C3C-E21E-106B-701D1E32C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26</a:t>
            </a:fld>
            <a:endParaRPr lang="nl-B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D485460-66F0-0C0D-C9E6-4A13A70AA9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0666" y="2315179"/>
            <a:ext cx="4786606" cy="3384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67024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3059A-908F-E7F8-7562-7E2C20D1D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8C1E38-12BF-1FAA-9501-23CAB1B87A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Outliers can be seen in histograms, but box-plots are easier</a:t>
            </a:r>
          </a:p>
          <a:p>
            <a:r>
              <a:rPr lang="en-US" dirty="0"/>
              <a:t>The green line is the median, the outside of the box is the q1 and q3</a:t>
            </a:r>
          </a:p>
          <a:p>
            <a:pPr lvl="1"/>
            <a:r>
              <a:rPr lang="en-US" dirty="0"/>
              <a:t>25% of data is below the q1-value (quartile 1)</a:t>
            </a:r>
          </a:p>
          <a:p>
            <a:pPr lvl="1"/>
            <a:r>
              <a:rPr lang="en-US" dirty="0"/>
              <a:t>The median (q2) is the center value</a:t>
            </a:r>
          </a:p>
          <a:p>
            <a:r>
              <a:rPr lang="en-US" dirty="0"/>
              <a:t>IQR = q3 – q1</a:t>
            </a:r>
          </a:p>
          <a:p>
            <a:r>
              <a:rPr lang="en-US" dirty="0"/>
              <a:t>Outliers:</a:t>
            </a:r>
          </a:p>
          <a:p>
            <a:pPr lvl="1"/>
            <a:r>
              <a:rPr lang="en-US" dirty="0"/>
              <a:t>Below q1 – 1.5 x IQR</a:t>
            </a:r>
          </a:p>
          <a:p>
            <a:pPr lvl="1"/>
            <a:r>
              <a:rPr lang="en-US" dirty="0"/>
              <a:t>Above q3 + 1.5 x IQR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A4F5B8-9BC2-A122-85C5-9F203504B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27</a:t>
            </a:fld>
            <a:endParaRPr lang="nl-B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7C2BB6C-15DC-99CE-6347-3251B2694D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4623" y="136525"/>
            <a:ext cx="5320553" cy="211990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8B75677-C9AC-631F-0DFA-07F19BF82F71}"/>
              </a:ext>
            </a:extLst>
          </p:cNvPr>
          <p:cNvSpPr txBox="1"/>
          <p:nvPr/>
        </p:nvSpPr>
        <p:spPr>
          <a:xfrm>
            <a:off x="5308600" y="5143499"/>
            <a:ext cx="36866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Where the lines end!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FF4D34E-27C6-B26D-36E8-F1C6567F478F}"/>
              </a:ext>
            </a:extLst>
          </p:cNvPr>
          <p:cNvCxnSpPr/>
          <p:nvPr/>
        </p:nvCxnSpPr>
        <p:spPr>
          <a:xfrm flipH="1" flipV="1">
            <a:off x="4203700" y="5283200"/>
            <a:ext cx="1104900" cy="1526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877D7F6-E0E6-82E8-A9DC-77A40E518654}"/>
              </a:ext>
            </a:extLst>
          </p:cNvPr>
          <p:cNvCxnSpPr/>
          <p:nvPr/>
        </p:nvCxnSpPr>
        <p:spPr>
          <a:xfrm flipH="1">
            <a:off x="4203700" y="5435887"/>
            <a:ext cx="1104900" cy="1775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767550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2EFE2F-C542-C08A-F77B-949F45BD5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0C701C-8217-F172-5CAC-739CA8BE56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IQR: Inter quartile range</a:t>
            </a:r>
          </a:p>
          <a:p>
            <a:pPr lvl="1"/>
            <a:r>
              <a:rPr lang="en-US" dirty="0"/>
              <a:t>Range between q1 and q3</a:t>
            </a:r>
          </a:p>
          <a:p>
            <a:pPr lvl="1"/>
            <a:r>
              <a:rPr lang="en-US" dirty="0"/>
              <a:t>Unaffected by extreme outliers</a:t>
            </a:r>
          </a:p>
          <a:p>
            <a:r>
              <a:rPr lang="en-US" dirty="0"/>
              <a:t>Standard deviation:</a:t>
            </a:r>
          </a:p>
          <a:p>
            <a:pPr lvl="1"/>
            <a:r>
              <a:rPr lang="en-US" dirty="0"/>
              <a:t>Average distance to the mean</a:t>
            </a:r>
          </a:p>
          <a:p>
            <a:pPr lvl="1"/>
            <a:r>
              <a:rPr lang="en-US" dirty="0"/>
              <a:t>Is affected by extreme outliers</a:t>
            </a:r>
          </a:p>
          <a:p>
            <a:r>
              <a:rPr lang="en-US" dirty="0"/>
              <a:t>You could calculate outliers using</a:t>
            </a:r>
            <a:br>
              <a:rPr lang="en-US" dirty="0"/>
            </a:br>
            <a:r>
              <a:rPr lang="en-US" dirty="0"/>
              <a:t>	average ± 3 x standard deviation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1AF4F0-6C67-8326-A975-01D191798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28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31234910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8A932B-3355-24C6-CB75-C5C9E04378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Outliers: how to handle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E258F1-7990-BB40-0D4B-D476D9191C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Removing outliers: easiest, but also quite harsh</a:t>
            </a:r>
          </a:p>
          <a:p>
            <a:r>
              <a:rPr lang="en-US" dirty="0"/>
              <a:t>Transformation: if the data is logarithmic you should transform it, the outliers may not seem so </a:t>
            </a:r>
            <a:r>
              <a:rPr lang="en-US" dirty="0" err="1"/>
              <a:t>outlierly</a:t>
            </a:r>
            <a:r>
              <a:rPr lang="en-US" dirty="0"/>
              <a:t> after all</a:t>
            </a:r>
          </a:p>
          <a:p>
            <a:r>
              <a:rPr lang="en-US" dirty="0" err="1"/>
              <a:t>Winsorization</a:t>
            </a:r>
            <a:r>
              <a:rPr lang="en-US" dirty="0"/>
              <a:t> or clipping: capping the extreme values at a predefined threshold</a:t>
            </a:r>
          </a:p>
          <a:p>
            <a:r>
              <a:rPr lang="en-US" dirty="0"/>
              <a:t>Creating separate models: outliers may represent a distinct subset of data that requires separate modeling or analysis. Create a separate models for these datapoints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F7AD1C-6F2D-4A47-DFE2-C815FB3FD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29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0506684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241BA-63C5-C30B-02E6-8BA1156FB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skewing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550CE2-C21D-1C46-50B0-F95A050098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705" y="2365375"/>
            <a:ext cx="11291048" cy="3811588"/>
          </a:xfrm>
        </p:spPr>
        <p:txBody>
          <a:bodyPr>
            <a:normAutofit lnSpcReduction="10000"/>
          </a:bodyPr>
          <a:lstStyle/>
          <a:p>
            <a:pPr lvl="1"/>
            <a:r>
              <a:rPr lang="en-US" dirty="0"/>
              <a:t>Not a problem to fix, but interesting none the less</a:t>
            </a:r>
          </a:p>
          <a:p>
            <a:r>
              <a:rPr lang="en-US" dirty="0"/>
              <a:t>Median = average: normal distribution</a:t>
            </a:r>
          </a:p>
          <a:p>
            <a:pPr lvl="1"/>
            <a:r>
              <a:rPr lang="en-US" dirty="0"/>
              <a:t>There were some students who didn't get it, and they got bad grades</a:t>
            </a:r>
          </a:p>
          <a:p>
            <a:pPr lvl="1"/>
            <a:r>
              <a:rPr lang="en-US" dirty="0"/>
              <a:t>Most students got a mediocre value, they make up the bulk of grades</a:t>
            </a:r>
          </a:p>
          <a:p>
            <a:pPr lvl="1"/>
            <a:r>
              <a:rPr lang="en-US" dirty="0"/>
              <a:t>Some students managed to excel, getting really high grades</a:t>
            </a:r>
          </a:p>
          <a:p>
            <a:r>
              <a:rPr lang="en-US" dirty="0"/>
              <a:t>Median &gt; average</a:t>
            </a:r>
          </a:p>
          <a:p>
            <a:pPr lvl="1"/>
            <a:r>
              <a:rPr lang="en-US" dirty="0"/>
              <a:t>Test was to easy, almost everybody got good grades</a:t>
            </a:r>
          </a:p>
          <a:p>
            <a:r>
              <a:rPr lang="en-US" dirty="0"/>
              <a:t>Average &gt; median</a:t>
            </a:r>
          </a:p>
          <a:p>
            <a:pPr lvl="1"/>
            <a:r>
              <a:rPr lang="en-US" dirty="0"/>
              <a:t>Test was to hard, only the whizz-kids got good grades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61B06B-07B2-CEBF-5EBA-D761000F5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30</a:t>
            </a:fld>
            <a:endParaRPr lang="nl-B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56E3115-080A-D3BD-EBF6-1D522411F3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9275" y="285015"/>
            <a:ext cx="5810250" cy="200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5190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686C1-138B-C182-BB59-61DC5B5264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skewing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5ADCC3-0386-96AB-5EB5-B12CBE7049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Examples of negative (left) skewing</a:t>
            </a:r>
          </a:p>
          <a:p>
            <a:pPr lvl="1"/>
            <a:r>
              <a:rPr lang="en-US" dirty="0"/>
              <a:t>Age of retirement (most people retire around 65, a few much earlier).</a:t>
            </a:r>
          </a:p>
          <a:p>
            <a:pPr lvl="1"/>
            <a:r>
              <a:rPr lang="en-US" dirty="0"/>
              <a:t>Distances of long </a:t>
            </a:r>
            <a:r>
              <a:rPr lang="en-US" dirty="0" err="1"/>
              <a:t>olympic</a:t>
            </a:r>
            <a:r>
              <a:rPr lang="en-US" dirty="0"/>
              <a:t> long jump</a:t>
            </a:r>
          </a:p>
          <a:p>
            <a:pPr lvl="1"/>
            <a:r>
              <a:rPr lang="en-US" dirty="0"/>
              <a:t>Age of dying</a:t>
            </a:r>
          </a:p>
          <a:p>
            <a:r>
              <a:rPr lang="en-US" dirty="0"/>
              <a:t>Examples of positive (right) skewing</a:t>
            </a:r>
          </a:p>
          <a:p>
            <a:pPr lvl="1"/>
            <a:r>
              <a:rPr lang="en-US" dirty="0"/>
              <a:t>Income</a:t>
            </a:r>
          </a:p>
          <a:p>
            <a:pPr lvl="1"/>
            <a:r>
              <a:rPr lang="en-US" dirty="0"/>
              <a:t>Housing prices</a:t>
            </a:r>
          </a:p>
          <a:p>
            <a:pPr lvl="1"/>
            <a:r>
              <a:rPr lang="en-US" dirty="0"/>
              <a:t>Hospital stay duration</a:t>
            </a:r>
          </a:p>
          <a:p>
            <a:pPr lvl="1"/>
            <a:r>
              <a:rPr lang="en-US" dirty="0"/>
              <a:t>Amount of pets people own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88FD1B-2C28-E1FC-AC7A-E9DA94220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31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22946548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69999-F948-CE7F-3C32-8649AEBD4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Categorical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58B6D0-D30D-14D4-A9A2-5B4F8B563D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dirty="0"/>
              <a:t>Gender: Categorized as male or female.</a:t>
            </a:r>
          </a:p>
          <a:p>
            <a:pPr lvl="1"/>
            <a:r>
              <a:rPr lang="en-US" dirty="0"/>
              <a:t>Marital Status: Categorized as single, married, divorced, widowed, etc.</a:t>
            </a:r>
          </a:p>
          <a:p>
            <a:pPr lvl="1"/>
            <a:r>
              <a:rPr lang="en-US" dirty="0"/>
              <a:t>Educational Level: Categorized as high school, college, graduate degree, etc.</a:t>
            </a:r>
          </a:p>
          <a:p>
            <a:pPr lvl="1"/>
            <a:r>
              <a:rPr lang="en-US" dirty="0"/>
              <a:t>Hair Color: Categorized as black, brown, blonde, red, etc.</a:t>
            </a:r>
          </a:p>
          <a:p>
            <a:pPr lvl="1"/>
            <a:r>
              <a:rPr lang="en-US" dirty="0"/>
              <a:t>Vehicle Type: Categorized as car, truck, motorcycle, bicycle, etc.</a:t>
            </a: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Cannot be subjected to numerical operations or calculations, such as addition or multiplication</a:t>
            </a:r>
            <a:endParaRPr lang="en-US" dirty="0">
              <a:solidFill>
                <a:srgbClr val="000000"/>
              </a:solidFill>
              <a:latin typeface="-apple-system"/>
            </a:endParaRPr>
          </a:p>
          <a:p>
            <a:r>
              <a:rPr lang="en-US" dirty="0">
                <a:solidFill>
                  <a:srgbClr val="000000"/>
                </a:solidFill>
                <a:latin typeface="-apple-system"/>
              </a:rPr>
              <a:t>Use </a:t>
            </a:r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chi-square tests, contingency tables, and frequency distributions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64DD93-C69D-E396-9C49-B64048C67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32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08526298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5208F-06D5-0701-0EF8-E237C6611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Ordinal and nominal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49792-E474-615D-9593-F9B742DF9B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Ordinal: the fields have an order</a:t>
            </a:r>
          </a:p>
          <a:p>
            <a:pPr lvl="1"/>
            <a:r>
              <a:rPr lang="en-US" dirty="0"/>
              <a:t>T-shirt sizes, ratings, education level, …</a:t>
            </a:r>
          </a:p>
          <a:p>
            <a:pPr lvl="1"/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The intervals between categories may not be uniform or measurable</a:t>
            </a:r>
          </a:p>
          <a:p>
            <a:r>
              <a:rPr lang="en-US" dirty="0">
                <a:solidFill>
                  <a:srgbClr val="000000"/>
                </a:solidFill>
                <a:latin typeface="-apple-system"/>
              </a:rPr>
              <a:t>Nominal: no inherent order or ranking</a:t>
            </a:r>
          </a:p>
          <a:p>
            <a:pPr lvl="1"/>
            <a:r>
              <a:rPr lang="en-US" dirty="0"/>
              <a:t>Gender, colors, marital status, types of fruit, …</a:t>
            </a:r>
          </a:p>
          <a:p>
            <a:pPr lvl="1"/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Each category is distinct and does not have any relative position or hierarchy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CB9F6A-3C12-5804-188D-D3EFF19F4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33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46128722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E5D84-6686-3307-E397-EF7BA09B1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 hot encoding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FA09CE-BF25-B2BF-B9AC-3304F80684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Suppose we have 3 types of fruit (apple, banana and orange)</a:t>
            </a:r>
          </a:p>
          <a:p>
            <a:r>
              <a:rPr lang="en-US" dirty="0"/>
              <a:t>If we store “1” for apple, “2” for banana and “3” for orange, a model may treat this as a numerical value</a:t>
            </a:r>
          </a:p>
          <a:p>
            <a:pPr lvl="1"/>
            <a:r>
              <a:rPr lang="en-US" dirty="0"/>
              <a:t>An orange is worth three apples</a:t>
            </a:r>
          </a:p>
          <a:p>
            <a:pPr lvl="1"/>
            <a:r>
              <a:rPr lang="en-US" dirty="0"/>
              <a:t>This is wrong, but the model will train upon this</a:t>
            </a:r>
          </a:p>
          <a:p>
            <a:r>
              <a:rPr lang="en-US" dirty="0"/>
              <a:t>Solution: three columns (called apple, banana and orange)</a:t>
            </a:r>
          </a:p>
          <a:p>
            <a:pPr lvl="1"/>
            <a:r>
              <a:rPr lang="en-US" dirty="0"/>
              <a:t>Every row gets a one in the correct column and zero in the others</a:t>
            </a:r>
          </a:p>
          <a:p>
            <a:r>
              <a:rPr lang="en-US" dirty="0"/>
              <a:t>Pro: an apple isn’t less more than an orange anymore</a:t>
            </a:r>
          </a:p>
          <a:p>
            <a:r>
              <a:rPr lang="en-US" dirty="0"/>
              <a:t>Con: increase of dimensionality (and memory-requirements for models)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FADCA7-47A2-EA68-6B54-12696435C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34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14554820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EE6B80-3C3A-FBE9-7FDC-44A47687A4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Missing values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42D53C-1D64-F7A6-F5D7-3967E1EA53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705" y="1550894"/>
            <a:ext cx="7989795" cy="4626069"/>
          </a:xfrm>
        </p:spPr>
        <p:txBody>
          <a:bodyPr/>
          <a:lstStyle/>
          <a:p>
            <a:r>
              <a:rPr lang="en-US" dirty="0"/>
              <a:t>Not all data is always known</a:t>
            </a:r>
          </a:p>
          <a:p>
            <a:r>
              <a:rPr lang="en-US" dirty="0"/>
              <a:t>There can be many reasons for this:</a:t>
            </a:r>
          </a:p>
          <a:p>
            <a:pPr lvl="1"/>
            <a:r>
              <a:rPr lang="en-US" dirty="0"/>
              <a:t>Never measured</a:t>
            </a:r>
          </a:p>
          <a:p>
            <a:pPr lvl="1"/>
            <a:r>
              <a:rPr lang="en-US" dirty="0"/>
              <a:t>Can be calculated</a:t>
            </a:r>
          </a:p>
          <a:p>
            <a:pPr lvl="1"/>
            <a:r>
              <a:rPr lang="en-US" dirty="0"/>
              <a:t>Wrongly stored</a:t>
            </a:r>
          </a:p>
          <a:p>
            <a:r>
              <a:rPr lang="en-US" dirty="0"/>
              <a:t>You’ll need a domain expert for most of the solutions to this problem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0DCA3D-A08D-ADCB-C222-CA1C5964B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35</a:t>
            </a:fld>
            <a:endParaRPr lang="nl-BE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CEA5587-430F-8BF3-70C9-165569A331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6201" y="1406270"/>
            <a:ext cx="4368462" cy="5418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103033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1FF39-0995-6C60-A32D-6C7A7C6F0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Missing values: Amputation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47D0F9-8F42-3E07-A909-2C9864019D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Easiest solution is simply deleting the data</a:t>
            </a:r>
          </a:p>
          <a:p>
            <a:r>
              <a:rPr lang="en-US" dirty="0"/>
              <a:t>The row</a:t>
            </a:r>
          </a:p>
          <a:p>
            <a:pPr lvl="1"/>
            <a:r>
              <a:rPr lang="en-US" dirty="0"/>
              <a:t>A record that has to much missing data</a:t>
            </a:r>
          </a:p>
          <a:p>
            <a:pPr lvl="1"/>
            <a:r>
              <a:rPr lang="en-US" dirty="0"/>
              <a:t>Note: you also delete the data you do have</a:t>
            </a:r>
          </a:p>
          <a:p>
            <a:r>
              <a:rPr lang="en-US" dirty="0"/>
              <a:t>The column</a:t>
            </a:r>
          </a:p>
          <a:p>
            <a:pPr lvl="1"/>
            <a:r>
              <a:rPr lang="en-US" dirty="0"/>
              <a:t>One measurement that won’t help in the models</a:t>
            </a:r>
          </a:p>
          <a:p>
            <a:pPr lvl="1"/>
            <a:r>
              <a:rPr lang="en-US" dirty="0"/>
              <a:t>Note: again, you also delete the data you do have</a:t>
            </a:r>
          </a:p>
          <a:p>
            <a:r>
              <a:rPr lang="en-US" dirty="0"/>
              <a:t>Amputation is often the safest way of dealing with outliers, especially if you don’t have too much actual data in the row/column</a:t>
            </a:r>
          </a:p>
          <a:p>
            <a:r>
              <a:rPr lang="en-US" i="1" dirty="0"/>
              <a:t>Note: Outliers: always delete the row, never the column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94FA51-CAB2-843A-601F-42682EB86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36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36314840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92AB6-531A-E428-7D24-5CAF404F6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Missing values: Imputing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495E8-3E37-6DE9-4668-CD7A6E2368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Sometimes you can make a good guess on what the value should be</a:t>
            </a:r>
          </a:p>
          <a:p>
            <a:r>
              <a:rPr lang="en-US" dirty="0"/>
              <a:t>Based only on the column itself</a:t>
            </a:r>
          </a:p>
          <a:p>
            <a:pPr lvl="1"/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Mean/Median/Mode Imputation</a:t>
            </a:r>
          </a:p>
          <a:p>
            <a:r>
              <a:rPr lang="en-US" dirty="0">
                <a:solidFill>
                  <a:srgbClr val="000000"/>
                </a:solidFill>
                <a:latin typeface="-apple-system"/>
              </a:rPr>
              <a:t>Beware: you’ll get spikes in your data</a:t>
            </a:r>
          </a:p>
          <a:p>
            <a:pPr lvl="1"/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Example: fill in the missing ages in Titanic with the </a:t>
            </a:r>
            <a:r>
              <a:rPr lang="en-US" dirty="0">
                <a:solidFill>
                  <a:srgbClr val="000000"/>
                </a:solidFill>
                <a:latin typeface="-apple-system"/>
              </a:rPr>
              <a:t>mode of age</a:t>
            </a:r>
            <a:endParaRPr lang="en-US" b="0" i="0" dirty="0">
              <a:solidFill>
                <a:srgbClr val="000000"/>
              </a:solidFill>
              <a:effectLst/>
              <a:latin typeface="-apple-system"/>
            </a:endParaRPr>
          </a:p>
          <a:p>
            <a:endParaRPr lang="en-US" b="0" i="0" dirty="0">
              <a:solidFill>
                <a:srgbClr val="000000"/>
              </a:solidFill>
              <a:effectLst/>
              <a:latin typeface="-apple-system"/>
            </a:endParaRP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988F8E-B158-B1F6-838D-D3F730C08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37</a:t>
            </a:fld>
            <a:endParaRPr lang="nl-BE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9970AFB-9008-F165-4D40-23D8A2EC65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8440" y="3917856"/>
            <a:ext cx="6742113" cy="2778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45810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4C268-1FDC-EB19-9D92-DCCE6C99D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Missing values: Imputing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9B9C32-C692-98AA-383E-9932391FA5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Based on the rest of the data as well:</a:t>
            </a:r>
          </a:p>
          <a:p>
            <a:pPr lvl="1"/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Regression Imputation</a:t>
            </a:r>
          </a:p>
          <a:p>
            <a:pPr lvl="1"/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K-Nearest Neighbors (KNN) Imputation: replace missing values with the average of the values from the nearest neighbors</a:t>
            </a:r>
          </a:p>
          <a:p>
            <a:pPr lvl="1"/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Multiple Imputation: combine different models</a:t>
            </a:r>
          </a:p>
          <a:p>
            <a:pPr lvl="1"/>
            <a:r>
              <a:rPr lang="en-US" b="0" i="0" dirty="0" err="1">
                <a:solidFill>
                  <a:srgbClr val="000000"/>
                </a:solidFill>
                <a:effectLst/>
                <a:latin typeface="-apple-system"/>
                <a:hlinkClick r:id="rId2"/>
              </a:rPr>
              <a:t>SimpleImputer</a:t>
            </a:r>
            <a:endParaRPr lang="en-US" b="0" i="0" dirty="0">
              <a:solidFill>
                <a:srgbClr val="000000"/>
              </a:solidFill>
              <a:effectLst/>
              <a:latin typeface="-apple-system"/>
            </a:endParaRPr>
          </a:p>
          <a:p>
            <a:r>
              <a:rPr lang="en-US" dirty="0">
                <a:solidFill>
                  <a:srgbClr val="000000"/>
                </a:solidFill>
                <a:latin typeface="-apple-system"/>
              </a:rPr>
              <a:t>But beware: if you predict the age of people on titanic based on their fare, you strengthen this connection and make it appear stronger in the final model than it actually is</a:t>
            </a:r>
          </a:p>
          <a:p>
            <a:r>
              <a:rPr lang="en-US" dirty="0">
                <a:solidFill>
                  <a:srgbClr val="000000"/>
                </a:solidFill>
                <a:latin typeface="-apple-system"/>
              </a:rPr>
              <a:t>… which of course will lead to a lower quality model when doing inference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27705D-0825-9D27-EB16-B9A059E1C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38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36480731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E70A22-EBCF-0AD4-18D8-72B7442A3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39</a:t>
            </a:fld>
            <a:endParaRPr lang="nl-BE"/>
          </a:p>
        </p:txBody>
      </p:sp>
      <p:pic>
        <p:nvPicPr>
          <p:cNvPr id="6" name="Picture 5" descr="A drawing of a plane with red dots&#10;&#10;AI-generated content may be incorrect.">
            <a:extLst>
              <a:ext uri="{FF2B5EF4-FFF2-40B4-BE49-F238E27FC236}">
                <a16:creationId xmlns:a16="http://schemas.microsoft.com/office/drawing/2014/main" id="{06B44A09-EA80-BD71-219E-2FA0E2DE10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8300" y="136525"/>
            <a:ext cx="8915400" cy="6641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6770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C675C-27DB-F31C-86B0-459FD51A69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339480-EDE2-A1D2-6D4F-E9E9B2F6F7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705" y="4300276"/>
            <a:ext cx="10771094" cy="187668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Looking at this data, what percentage of black people carrying a joint will get caught? And what percentage of white people?</a:t>
            </a:r>
          </a:p>
          <a:p>
            <a:r>
              <a:rPr lang="en-US" dirty="0"/>
              <a:t>And what will show up in the statistics?</a:t>
            </a:r>
          </a:p>
          <a:p>
            <a:r>
              <a:rPr lang="en-US" dirty="0"/>
              <a:t>And what will the cops base their decision on who to stop and frisk on?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444FD4-1F6B-4776-0671-051B79100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40</a:t>
            </a:fld>
            <a:endParaRPr lang="nl-B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57DE952-D6BB-B6A3-C7D9-56B37C351D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0194" y="1464527"/>
            <a:ext cx="7031611" cy="2569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72971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D557E-A5B7-A5D7-8E51-FEA0BF72E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Bias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E730D-25A4-2C04-6F4F-E6EAFF018D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nl-BE" dirty="0"/>
              <a:t>More types of Bias:</a:t>
            </a:r>
          </a:p>
          <a:p>
            <a:pPr lvl="1"/>
            <a:r>
              <a:rPr lang="nl-BE" dirty="0"/>
              <a:t>Sampling Bias: Non-</a:t>
            </a:r>
            <a:r>
              <a:rPr lang="nl-BE" dirty="0" err="1"/>
              <a:t>representative</a:t>
            </a:r>
            <a:r>
              <a:rPr lang="nl-BE" dirty="0"/>
              <a:t> sample.</a:t>
            </a:r>
          </a:p>
          <a:p>
            <a:pPr lvl="1"/>
            <a:r>
              <a:rPr lang="nl-BE" dirty="0" err="1"/>
              <a:t>Selection</a:t>
            </a:r>
            <a:r>
              <a:rPr lang="nl-BE" dirty="0"/>
              <a:t> Bias: </a:t>
            </a:r>
            <a:r>
              <a:rPr lang="nl-BE" dirty="0" err="1"/>
              <a:t>Influenced</a:t>
            </a:r>
            <a:r>
              <a:rPr lang="nl-BE" dirty="0"/>
              <a:t> </a:t>
            </a:r>
            <a:r>
              <a:rPr lang="nl-BE" dirty="0" err="1"/>
              <a:t>selection</a:t>
            </a:r>
            <a:r>
              <a:rPr lang="nl-BE" dirty="0"/>
              <a:t> of data points.</a:t>
            </a:r>
          </a:p>
          <a:p>
            <a:pPr lvl="1"/>
            <a:r>
              <a:rPr lang="nl-BE" dirty="0" err="1"/>
              <a:t>Measurement</a:t>
            </a:r>
            <a:r>
              <a:rPr lang="nl-BE" dirty="0"/>
              <a:t> Bias: </a:t>
            </a:r>
            <a:r>
              <a:rPr lang="nl-BE" dirty="0" err="1"/>
              <a:t>Errors</a:t>
            </a:r>
            <a:r>
              <a:rPr lang="nl-BE" dirty="0"/>
              <a:t> in </a:t>
            </a:r>
            <a:r>
              <a:rPr lang="nl-BE" dirty="0" err="1"/>
              <a:t>measurement</a:t>
            </a:r>
            <a:r>
              <a:rPr lang="nl-BE" dirty="0"/>
              <a:t>.</a:t>
            </a:r>
          </a:p>
          <a:p>
            <a:pPr lvl="1"/>
            <a:r>
              <a:rPr lang="nl-BE" dirty="0"/>
              <a:t>Reporting Bias: </a:t>
            </a:r>
            <a:r>
              <a:rPr lang="nl-BE" dirty="0" err="1"/>
              <a:t>Systematic</a:t>
            </a:r>
            <a:r>
              <a:rPr lang="nl-BE" dirty="0"/>
              <a:t> </a:t>
            </a:r>
            <a:r>
              <a:rPr lang="nl-BE" dirty="0" err="1"/>
              <a:t>difference</a:t>
            </a:r>
            <a:r>
              <a:rPr lang="nl-BE" dirty="0"/>
              <a:t> in reporting.</a:t>
            </a:r>
          </a:p>
          <a:p>
            <a:pPr lvl="1"/>
            <a:r>
              <a:rPr lang="nl-BE" dirty="0" err="1"/>
              <a:t>Confirmation</a:t>
            </a:r>
            <a:r>
              <a:rPr lang="nl-BE" dirty="0"/>
              <a:t> Bias: </a:t>
            </a:r>
            <a:r>
              <a:rPr lang="nl-BE" dirty="0" err="1"/>
              <a:t>Selective</a:t>
            </a:r>
            <a:r>
              <a:rPr lang="nl-BE" dirty="0"/>
              <a:t> search </a:t>
            </a:r>
            <a:r>
              <a:rPr lang="nl-BE" dirty="0" err="1"/>
              <a:t>for</a:t>
            </a:r>
            <a:r>
              <a:rPr lang="nl-BE" dirty="0"/>
              <a:t> </a:t>
            </a:r>
            <a:r>
              <a:rPr lang="nl-BE" dirty="0" err="1"/>
              <a:t>confirming</a:t>
            </a:r>
            <a:r>
              <a:rPr lang="nl-BE" dirty="0"/>
              <a:t> information.</a:t>
            </a:r>
          </a:p>
          <a:p>
            <a:pPr lvl="1"/>
            <a:r>
              <a:rPr lang="nl-BE" dirty="0" err="1"/>
              <a:t>Algorithmic</a:t>
            </a:r>
            <a:r>
              <a:rPr lang="nl-BE" dirty="0"/>
              <a:t> Bias: </a:t>
            </a:r>
            <a:r>
              <a:rPr lang="nl-BE" dirty="0" err="1"/>
              <a:t>Discrimination</a:t>
            </a:r>
            <a:r>
              <a:rPr lang="nl-BE" dirty="0"/>
              <a:t> in machine </a:t>
            </a:r>
            <a:r>
              <a:rPr lang="nl-BE" dirty="0" err="1"/>
              <a:t>learning</a:t>
            </a:r>
            <a:r>
              <a:rPr lang="nl-BE" dirty="0"/>
              <a:t> </a:t>
            </a:r>
            <a:r>
              <a:rPr lang="nl-BE" dirty="0" err="1"/>
              <a:t>models</a:t>
            </a:r>
            <a:r>
              <a:rPr lang="nl-BE" dirty="0"/>
              <a:t>.</a:t>
            </a:r>
          </a:p>
          <a:p>
            <a:pPr lvl="1"/>
            <a:r>
              <a:rPr lang="nl-BE" dirty="0" err="1"/>
              <a:t>Survivor</a:t>
            </a:r>
            <a:r>
              <a:rPr lang="nl-BE" dirty="0"/>
              <a:t> Bias: Focus on </a:t>
            </a:r>
            <a:r>
              <a:rPr lang="nl-BE" dirty="0" err="1"/>
              <a:t>surviving</a:t>
            </a:r>
            <a:r>
              <a:rPr lang="nl-BE" dirty="0"/>
              <a:t> data points.</a:t>
            </a:r>
          </a:p>
          <a:p>
            <a:pPr lvl="1"/>
            <a:r>
              <a:rPr lang="nl-BE" dirty="0" err="1"/>
              <a:t>Snoop</a:t>
            </a:r>
            <a:r>
              <a:rPr lang="nl-BE" dirty="0"/>
              <a:t> Bias: Test data </a:t>
            </a:r>
            <a:r>
              <a:rPr lang="nl-BE" dirty="0" err="1"/>
              <a:t>influencing</a:t>
            </a:r>
            <a:r>
              <a:rPr lang="nl-BE" dirty="0"/>
              <a:t> training </a:t>
            </a:r>
            <a:r>
              <a:rPr lang="nl-BE" dirty="0" err="1"/>
              <a:t>process</a:t>
            </a:r>
            <a:r>
              <a:rPr lang="nl-BE" dirty="0"/>
              <a:t>.</a:t>
            </a:r>
          </a:p>
          <a:p>
            <a:r>
              <a:rPr lang="nl-BE" dirty="0" err="1"/>
              <a:t>Mitigation</a:t>
            </a:r>
            <a:r>
              <a:rPr lang="nl-BE" dirty="0"/>
              <a:t>: Random sampling, </a:t>
            </a:r>
            <a:r>
              <a:rPr lang="nl-BE" dirty="0" err="1"/>
              <a:t>rigorous</a:t>
            </a:r>
            <a:r>
              <a:rPr lang="nl-BE" dirty="0"/>
              <a:t> </a:t>
            </a:r>
            <a:r>
              <a:rPr lang="nl-BE" dirty="0" err="1"/>
              <a:t>study</a:t>
            </a:r>
            <a:r>
              <a:rPr lang="nl-BE" dirty="0"/>
              <a:t> designs, </a:t>
            </a:r>
            <a:r>
              <a:rPr lang="nl-BE" dirty="0" err="1"/>
              <a:t>careful</a:t>
            </a:r>
            <a:r>
              <a:rPr lang="nl-BE" dirty="0"/>
              <a:t> </a:t>
            </a:r>
            <a:r>
              <a:rPr lang="nl-BE" dirty="0" err="1"/>
              <a:t>measurement</a:t>
            </a:r>
            <a:r>
              <a:rPr lang="nl-BE" dirty="0"/>
              <a:t>, </a:t>
            </a:r>
            <a:r>
              <a:rPr lang="nl-BE" dirty="0" err="1"/>
              <a:t>transparency</a:t>
            </a:r>
            <a:r>
              <a:rPr lang="nl-BE" dirty="0"/>
              <a:t>, </a:t>
            </a:r>
            <a:r>
              <a:rPr lang="nl-BE" dirty="0" err="1"/>
              <a:t>and</a:t>
            </a:r>
            <a:r>
              <a:rPr lang="nl-BE" dirty="0"/>
              <a:t> </a:t>
            </a:r>
            <a:r>
              <a:rPr lang="nl-BE" dirty="0" err="1"/>
              <a:t>regular</a:t>
            </a:r>
            <a:r>
              <a:rPr lang="nl-BE" dirty="0"/>
              <a:t> bias assessments.</a:t>
            </a:r>
          </a:p>
          <a:p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70385148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94531-6AEB-4C9C-45B0-B869CEE81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6D919C-EEB5-0F6D-4B54-A5723B808E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Bias is often linked to preset notions that are continuously confirmed because we choose to ignore all information that doesn’t confirm our information</a:t>
            </a:r>
          </a:p>
          <a:p>
            <a:pPr lvl="1"/>
            <a:r>
              <a:rPr lang="en-US" dirty="0"/>
              <a:t>You wore a blue shirt and all of the sudden everybody is wearing a blue shirt!</a:t>
            </a:r>
          </a:p>
          <a:p>
            <a:r>
              <a:rPr lang="en-US" dirty="0"/>
              <a:t>This often ends up in our data, and it’s something to be aware of, but not something we can easily solve</a:t>
            </a:r>
          </a:p>
          <a:p>
            <a:pPr lvl="1"/>
            <a:r>
              <a:rPr lang="en-US" dirty="0"/>
              <a:t>Fairness-Constrained Optimization: Add fairness metrics (like demographic parity, equal opportunity) as constraints in the loss function.</a:t>
            </a:r>
          </a:p>
          <a:p>
            <a:pPr lvl="1"/>
            <a:r>
              <a:rPr lang="en-US" dirty="0"/>
              <a:t>Adversarial Debiasing: Train the model to make predictions while simultaneously trying to prevent it from encoding sensitive information.</a:t>
            </a:r>
          </a:p>
          <a:p>
            <a:pPr lvl="1"/>
            <a:r>
              <a:rPr lang="en-US" dirty="0"/>
              <a:t>Prejudice Remover </a:t>
            </a:r>
            <a:r>
              <a:rPr lang="en-US" dirty="0" err="1"/>
              <a:t>Regularizer</a:t>
            </a:r>
            <a:r>
              <a:rPr lang="en-US" dirty="0"/>
              <a:t>: Penalize the model for using sensitive attributes in predictions.</a:t>
            </a:r>
          </a:p>
          <a:p>
            <a:pPr lvl="1"/>
            <a:r>
              <a:rPr lang="en-US" dirty="0"/>
              <a:t>Use explainable AI (XAI) tools like SHAP or LIME to detect biased reasoning.</a:t>
            </a:r>
          </a:p>
          <a:p>
            <a:r>
              <a:rPr lang="en-US" dirty="0"/>
              <a:t>It’s the reason the EU has rules on when to use AI models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44E398-B5D9-FAAC-9C4A-9FC228338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42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59874166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3202F-2C53-0B9F-881C-488D322D8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Bias we can handle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C8E126-FFEE-CEE8-9538-89F1BCEA5E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We want to detect fraudulent transactions, but only 1% of the data is fraudulent</a:t>
            </a:r>
          </a:p>
          <a:p>
            <a:r>
              <a:rPr lang="en-US" dirty="0"/>
              <a:t>We want to train the “what animal is on the savannah”, but the data is:</a:t>
            </a:r>
          </a:p>
          <a:p>
            <a:pPr lvl="1"/>
            <a:r>
              <a:rPr lang="en-US" dirty="0"/>
              <a:t>50 zebras, 40 wildebeests, 70 antelopes, 2 leopards</a:t>
            </a:r>
          </a:p>
          <a:p>
            <a:r>
              <a:rPr lang="en-US" dirty="0"/>
              <a:t>A model that ignores leopards can get an accuracy of 98,8%</a:t>
            </a:r>
          </a:p>
          <a:p>
            <a:r>
              <a:rPr lang="en-US" dirty="0"/>
              <a:t>Solution:</a:t>
            </a:r>
          </a:p>
          <a:p>
            <a:pPr lvl="1"/>
            <a:r>
              <a:rPr lang="en-US" dirty="0"/>
              <a:t>Get more data</a:t>
            </a:r>
          </a:p>
          <a:p>
            <a:pPr lvl="1"/>
            <a:r>
              <a:rPr lang="en-US" dirty="0"/>
              <a:t>Weight the observations (leopards get more weight than the others)</a:t>
            </a:r>
          </a:p>
          <a:p>
            <a:pPr lvl="1"/>
            <a:r>
              <a:rPr lang="en-US" dirty="0"/>
              <a:t>Use a propensity score (make sure leopards are selected more when training)</a:t>
            </a:r>
          </a:p>
          <a:p>
            <a:pPr lvl="1"/>
            <a:r>
              <a:rPr lang="en-US" dirty="0"/>
              <a:t>Simulate our augment missing data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AE461E-A08A-AC1C-6B96-6B253E826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43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49367350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9096E-4691-46A5-3F17-5E49D4337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Snoop Bias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635687-7EB6-FD81-6EA7-C8EAAAB65E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When information from the test dataset accidentally influences the training process</a:t>
            </a:r>
          </a:p>
          <a:p>
            <a:pPr lvl="1"/>
            <a:r>
              <a:rPr lang="en-US" dirty="0"/>
              <a:t>letting the model "cheat" by learning patterns it should not know in advance</a:t>
            </a:r>
          </a:p>
          <a:p>
            <a:pPr lvl="1"/>
            <a:r>
              <a:rPr lang="en-US" dirty="0"/>
              <a:t>Often leads to performance results that seem overly optimistic</a:t>
            </a:r>
          </a:p>
          <a:p>
            <a:pPr lvl="1"/>
            <a:r>
              <a:rPr lang="en-US" dirty="0"/>
              <a:t>These results are misleading: when the model encounters fresh, unseen data in practical applications (inference), it stumbles because it has essentially memorized the test data</a:t>
            </a:r>
          </a:p>
          <a:p>
            <a:r>
              <a:rPr lang="en-US" dirty="0"/>
              <a:t>The Human Bias Risk: our own human tendency to recognize patterns can influence how we handle test datasets</a:t>
            </a:r>
          </a:p>
          <a:p>
            <a:pPr lvl="1"/>
            <a:r>
              <a:rPr lang="en-US" dirty="0"/>
              <a:t>We might unintentionally use knowledge from the test data while choosing features or selecting models</a:t>
            </a:r>
          </a:p>
          <a:p>
            <a:pPr lvl="1"/>
            <a:r>
              <a:rPr lang="en-US" dirty="0"/>
              <a:t>This seemingly harmless "peek" can skew the entire development process, resulting in a model that appears effective during testing but fails miserably in real-world applications</a:t>
            </a:r>
          </a:p>
          <a:p>
            <a:pPr lvl="1"/>
            <a:r>
              <a:rPr lang="en-US" dirty="0"/>
              <a:t>It's crucial to keep the test set entirely off-limits until the final evaluation.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4D660B-F521-A25D-98F2-1EF224EC4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44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5322615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507C8-D1C8-C51F-C3EF-B269FF249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Scaling</a:t>
            </a:r>
            <a:endParaRPr lang="nl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540836-1847-48C4-589B-4D7AEA9802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problem: length is between 1.5 and 2.2, weight between 50 and 140</a:t>
            </a:r>
          </a:p>
          <a:p>
            <a:r>
              <a:rPr lang="en-US" dirty="0"/>
              <a:t>A model may see the bigger number as more important</a:t>
            </a:r>
          </a:p>
          <a:p>
            <a:r>
              <a:rPr lang="en-US" dirty="0"/>
              <a:t>Scaling: adjust range of data to fit between 0 and 1 (or something similar)</a:t>
            </a:r>
          </a:p>
          <a:p>
            <a:pPr lvl="1"/>
            <a:r>
              <a:rPr lang="en-US" dirty="0"/>
              <a:t>Min-max scaling:</a:t>
            </a:r>
          </a:p>
          <a:p>
            <a:pPr lvl="1"/>
            <a:endParaRPr lang="en-US" dirty="0"/>
          </a:p>
          <a:p>
            <a:pPr lvl="1"/>
            <a:r>
              <a:rPr lang="en-US" dirty="0" err="1"/>
              <a:t>Standarization</a:t>
            </a:r>
            <a:r>
              <a:rPr lang="en-US" dirty="0"/>
              <a:t>: </a:t>
            </a:r>
          </a:p>
          <a:p>
            <a:pPr lvl="1"/>
            <a:endParaRPr lang="en-US" dirty="0"/>
          </a:p>
          <a:p>
            <a:r>
              <a:rPr lang="en-US" dirty="0"/>
              <a:t>Will provide you with data that is easier for algorithms to compare</a:t>
            </a:r>
          </a:p>
          <a:p>
            <a:pPr lvl="1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D33436-286F-C7C6-ABA0-1D43F7A115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2489" y="3076526"/>
            <a:ext cx="2353003" cy="70494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6449D6C-83B1-3D05-171E-3D6029BB0D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4355" y="4047228"/>
            <a:ext cx="2133898" cy="600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9417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6797E-5CAD-DCE4-7B22-07F236509D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79A20-D708-9509-D901-53BFE473BA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But is it needed</a:t>
            </a:r>
            <a:r>
              <a:rPr lang="en-BE" dirty="0"/>
              <a:t>? T</a:t>
            </a:r>
            <a:r>
              <a:rPr lang="en-US" dirty="0"/>
              <a:t>he data is in separate columns after all…</a:t>
            </a:r>
          </a:p>
          <a:p>
            <a:r>
              <a:rPr lang="en-US" dirty="0"/>
              <a:t>Yes:</a:t>
            </a:r>
          </a:p>
          <a:p>
            <a:pPr lvl="1"/>
            <a:r>
              <a:rPr lang="en-US" dirty="0"/>
              <a:t>K-Nearest Neighbors (KNN): Uses Euclidean distance; scale matters directly</a:t>
            </a:r>
          </a:p>
          <a:p>
            <a:pPr lvl="1"/>
            <a:r>
              <a:rPr lang="en-US" dirty="0"/>
              <a:t>SVM: Hyperplane depends on distance metrics</a:t>
            </a:r>
          </a:p>
          <a:p>
            <a:pPr lvl="1"/>
            <a:r>
              <a:rPr lang="en-US" dirty="0"/>
              <a:t>Logistic Regression: Faster convergence, better regularization</a:t>
            </a:r>
          </a:p>
          <a:p>
            <a:pPr lvl="1"/>
            <a:r>
              <a:rPr lang="en-US" dirty="0"/>
              <a:t>Gradient Descent (e.g., in neural nets): Helps gradient flow and training speed</a:t>
            </a:r>
          </a:p>
          <a:p>
            <a:r>
              <a:rPr lang="en-US" dirty="0"/>
              <a:t>No:</a:t>
            </a:r>
          </a:p>
          <a:p>
            <a:pPr lvl="1"/>
            <a:r>
              <a:rPr lang="en-US" dirty="0"/>
              <a:t>Tree-based models: Splits are based on feature thresholds, not distance</a:t>
            </a:r>
          </a:p>
          <a:p>
            <a:pPr lvl="1"/>
            <a:r>
              <a:rPr lang="en-US" dirty="0"/>
              <a:t>Naive Bayes: Works with probabilities, not distances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11902F-7383-53F9-E038-A23A678BC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46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88995039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611AB-45F0-4BB2-DD3C-84AE54C4A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14A9D5-44C8-B1A0-BA67-38768A2FB4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705" y="1550894"/>
            <a:ext cx="7900895" cy="4626069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In titanic, what’s the difference between “Miss” and “Mrs.”? And what is a “Master.”?</a:t>
            </a:r>
          </a:p>
          <a:p>
            <a:r>
              <a:rPr lang="en-US" dirty="0"/>
              <a:t>Feature engineering: creating, selecting, transforming, or encoding data into formats that maximize a model’s ability to learn patterns</a:t>
            </a:r>
          </a:p>
          <a:p>
            <a:r>
              <a:rPr lang="en-US" dirty="0"/>
              <a:t>Example</a:t>
            </a:r>
          </a:p>
          <a:p>
            <a:r>
              <a:rPr lang="en-US" dirty="0"/>
              <a:t>Suppose you're building a model to predict customer churn. Raw data might include:</a:t>
            </a:r>
          </a:p>
          <a:p>
            <a:pPr lvl="1"/>
            <a:r>
              <a:rPr lang="en-US" dirty="0" err="1"/>
              <a:t>last_login_date</a:t>
            </a:r>
            <a:r>
              <a:rPr lang="en-US" dirty="0"/>
              <a:t>, </a:t>
            </a:r>
            <a:r>
              <a:rPr lang="en-US" dirty="0" err="1"/>
              <a:t>total_spent</a:t>
            </a:r>
            <a:r>
              <a:rPr lang="en-US" dirty="0"/>
              <a:t>, </a:t>
            </a:r>
            <a:r>
              <a:rPr lang="en-US" dirty="0" err="1"/>
              <a:t>account_creation_date</a:t>
            </a:r>
            <a:endParaRPr lang="en-US" dirty="0"/>
          </a:p>
          <a:p>
            <a:r>
              <a:rPr lang="en-US" dirty="0"/>
              <a:t>Feature engineering could turn this into:</a:t>
            </a:r>
          </a:p>
          <a:p>
            <a:pPr lvl="1"/>
            <a:r>
              <a:rPr lang="en-US" dirty="0" err="1"/>
              <a:t>days_since_last_login</a:t>
            </a:r>
            <a:r>
              <a:rPr lang="en-US" dirty="0"/>
              <a:t>, </a:t>
            </a:r>
            <a:r>
              <a:rPr lang="en-US" dirty="0" err="1"/>
              <a:t>average_spend_per_month</a:t>
            </a:r>
            <a:r>
              <a:rPr lang="en-US" dirty="0"/>
              <a:t>, </a:t>
            </a:r>
            <a:r>
              <a:rPr lang="en-US" dirty="0" err="1"/>
              <a:t>account_age_in_days</a:t>
            </a:r>
            <a:endParaRPr lang="en-US" dirty="0"/>
          </a:p>
          <a:p>
            <a:r>
              <a:rPr lang="en-US" dirty="0"/>
              <a:t>These derived features may carry much more predictive value than the raw inputs.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EC839F-FB38-7139-101C-B64030571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47</a:t>
            </a:fld>
            <a:endParaRPr lang="nl-B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AB361B8-D1B7-09F7-C79C-0D03B60198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3600" y="1550894"/>
            <a:ext cx="3390153" cy="3180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285650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50C7E-C55B-A7E4-4B5B-750FBFABF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BE8DE7-1D44-5C63-CDD0-2A7A8E1362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Why feature engineering matters</a:t>
            </a:r>
          </a:p>
          <a:p>
            <a:pPr lvl="1"/>
            <a:r>
              <a:rPr lang="en-US" dirty="0"/>
              <a:t>Boosts model accuracy</a:t>
            </a:r>
          </a:p>
          <a:p>
            <a:pPr lvl="1"/>
            <a:r>
              <a:rPr lang="en-US" dirty="0"/>
              <a:t>Helps models generalize better</a:t>
            </a:r>
          </a:p>
          <a:p>
            <a:pPr lvl="1"/>
            <a:r>
              <a:rPr lang="en-US" dirty="0"/>
              <a:t>Allows you to inject domain expertise into the model</a:t>
            </a:r>
          </a:p>
          <a:p>
            <a:pPr lvl="1"/>
            <a:r>
              <a:rPr lang="en-US" dirty="0"/>
              <a:t>Can reduce the need for complex models</a:t>
            </a:r>
          </a:p>
          <a:p>
            <a:r>
              <a:rPr lang="en-US" dirty="0"/>
              <a:t>Another example:</a:t>
            </a:r>
          </a:p>
          <a:p>
            <a:pPr lvl="1"/>
            <a:r>
              <a:rPr lang="en-US" dirty="0" err="1"/>
              <a:t>last_purchase_date</a:t>
            </a:r>
            <a:r>
              <a:rPr lang="en-US" dirty="0"/>
              <a:t>, </a:t>
            </a:r>
            <a:r>
              <a:rPr lang="en-US" dirty="0" err="1"/>
              <a:t>number_of_site_visits</a:t>
            </a:r>
            <a:r>
              <a:rPr lang="en-US" dirty="0"/>
              <a:t>, </a:t>
            </a:r>
            <a:r>
              <a:rPr lang="en-US" dirty="0" err="1"/>
              <a:t>signup_date</a:t>
            </a:r>
            <a:r>
              <a:rPr lang="en-US" dirty="0"/>
              <a:t>, </a:t>
            </a:r>
            <a:r>
              <a:rPr lang="en-US" dirty="0" err="1"/>
              <a:t>total_items_viewed</a:t>
            </a:r>
            <a:r>
              <a:rPr lang="en-US" dirty="0"/>
              <a:t>, </a:t>
            </a:r>
            <a:r>
              <a:rPr lang="en-US" dirty="0" err="1"/>
              <a:t>is_subscribed_to_newsletter</a:t>
            </a:r>
            <a:endParaRPr lang="en-US" dirty="0"/>
          </a:p>
          <a:p>
            <a:pPr lvl="1"/>
            <a:r>
              <a:rPr lang="en-US" dirty="0" err="1"/>
              <a:t>is_engaged_customer</a:t>
            </a:r>
            <a:r>
              <a:rPr lang="en-US" dirty="0"/>
              <a:t>: has made &gt;3 purchases in the last 6 months</a:t>
            </a:r>
          </a:p>
          <a:p>
            <a:pPr lvl="1"/>
            <a:r>
              <a:rPr lang="en-US" dirty="0" err="1"/>
              <a:t>views_per_visit</a:t>
            </a:r>
            <a:r>
              <a:rPr lang="en-US" dirty="0"/>
              <a:t>: </a:t>
            </a:r>
            <a:r>
              <a:rPr lang="en-US" dirty="0" err="1"/>
              <a:t>total_items_viewed</a:t>
            </a:r>
            <a:r>
              <a:rPr lang="en-US" dirty="0"/>
              <a:t> / </a:t>
            </a:r>
            <a:r>
              <a:rPr lang="en-US" dirty="0" err="1"/>
              <a:t>number_of_site_visits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BF8B2-5478-1455-64EA-AF02E0058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48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3388816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09BE3-F824-4B30-551B-2C519F4F3B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CDAD59-BB77-6D59-C985-618AC83583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Learning to do machine learning is kind of like motor repairs:</a:t>
            </a:r>
          </a:p>
          <a:p>
            <a:pPr lvl="1"/>
            <a:r>
              <a:rPr lang="en-US" dirty="0"/>
              <a:t>When learning about it in class it’s all clean and ready</a:t>
            </a:r>
          </a:p>
          <a:p>
            <a:pPr lvl="1"/>
            <a:r>
              <a:rPr lang="en-US" dirty="0"/>
              <a:t>When in the shop everything is greasy and you’ll spend more time cleaning the engine than working on it</a:t>
            </a:r>
          </a:p>
          <a:p>
            <a:r>
              <a:rPr lang="en-US" dirty="0"/>
              <a:t>This is normal, because it’s to easy to store data</a:t>
            </a:r>
          </a:p>
          <a:p>
            <a:pPr lvl="1"/>
            <a:r>
              <a:rPr lang="en-US" dirty="0"/>
              <a:t>People with a big attic rarely have an ordered attic because they don’t need to save space, they can just dump it all in there</a:t>
            </a:r>
          </a:p>
          <a:p>
            <a:r>
              <a:rPr lang="en-US" dirty="0"/>
              <a:t>A good clean will make your models better</a:t>
            </a:r>
          </a:p>
          <a:p>
            <a:r>
              <a:rPr lang="en-US" dirty="0"/>
              <a:t>Cleaning to much will make your models worse</a:t>
            </a:r>
          </a:p>
          <a:p>
            <a:pPr lvl="1"/>
            <a:r>
              <a:rPr lang="en-US" dirty="0"/>
              <a:t>Amputating, imputing both have their challenges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6EB39-B165-ECCC-05DC-DD41DFB4E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49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8087435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GUID" val="2b0f4be1-9f1f-4328-81a6-034cc34da24b"/>
</p:tagLst>
</file>

<file path=ppt/theme/theme1.xml><?xml version="1.0" encoding="utf-8"?>
<a:theme xmlns:a="http://schemas.openxmlformats.org/drawingml/2006/main" name="Kantoorthema">
  <a:themeElements>
    <a:clrScheme name="Kanto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toor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Kantoorthema">
  <a:themeElements>
    <a:clrScheme name="Kanto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toor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2211</TotalTime>
  <Words>4850</Words>
  <Application>Microsoft Office PowerPoint</Application>
  <PresentationFormat>Widescreen</PresentationFormat>
  <Paragraphs>726</Paragraphs>
  <Slides>49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7" baseType="lpstr">
      <vt:lpstr>Amasis MT Pro Medium</vt:lpstr>
      <vt:lpstr>-apple-system</vt:lpstr>
      <vt:lpstr>Arial</vt:lpstr>
      <vt:lpstr>Calibri</vt:lpstr>
      <vt:lpstr>Cambria</vt:lpstr>
      <vt:lpstr>Consolas</vt:lpstr>
      <vt:lpstr>Verdana</vt:lpstr>
      <vt:lpstr>Kantoorthema</vt:lpstr>
      <vt:lpstr>Chapter 7 – Data augmentation</vt:lpstr>
      <vt:lpstr>Data science</vt:lpstr>
      <vt:lpstr>Data science</vt:lpstr>
      <vt:lpstr>The overlap</vt:lpstr>
      <vt:lpstr>The data science process</vt:lpstr>
      <vt:lpstr>Step 1: Obtain</vt:lpstr>
      <vt:lpstr>Step 1: Obtain</vt:lpstr>
      <vt:lpstr>Step 2: Scrub</vt:lpstr>
      <vt:lpstr>Step 2: Scrub</vt:lpstr>
      <vt:lpstr>Step 3: Explore</vt:lpstr>
      <vt:lpstr>Step 3: Explore</vt:lpstr>
      <vt:lpstr>Step 4: Model data</vt:lpstr>
      <vt:lpstr>Step 5: Interpret the data</vt:lpstr>
      <vt:lpstr>Summing up</vt:lpstr>
      <vt:lpstr>[Stolen from R]</vt:lpstr>
      <vt:lpstr>Same data, different formats</vt:lpstr>
      <vt:lpstr>3 rules for data files</vt:lpstr>
      <vt:lpstr>Does each variable have its own column?</vt:lpstr>
      <vt:lpstr>Each variable must have its own column</vt:lpstr>
      <vt:lpstr>Does each observation have its own row?</vt:lpstr>
      <vt:lpstr>Each observation must have its own row</vt:lpstr>
      <vt:lpstr>Does each value have its own cell?</vt:lpstr>
      <vt:lpstr>Each value must have its own cell</vt:lpstr>
      <vt:lpstr>Problems in data</vt:lpstr>
      <vt:lpstr>Outliers</vt:lpstr>
      <vt:lpstr>Outliers</vt:lpstr>
      <vt:lpstr>Outliers</vt:lpstr>
      <vt:lpstr>Outliers</vt:lpstr>
      <vt:lpstr>Outliers: how to handle</vt:lpstr>
      <vt:lpstr>Data skewing</vt:lpstr>
      <vt:lpstr>Data skewing</vt:lpstr>
      <vt:lpstr>Categorical data</vt:lpstr>
      <vt:lpstr>Ordinal and nominal</vt:lpstr>
      <vt:lpstr>One hot encoding</vt:lpstr>
      <vt:lpstr>Missing values</vt:lpstr>
      <vt:lpstr>Missing values: Amputation</vt:lpstr>
      <vt:lpstr>Missing values: Imputing</vt:lpstr>
      <vt:lpstr>Missing values: Imputing</vt:lpstr>
      <vt:lpstr>PowerPoint Presentation</vt:lpstr>
      <vt:lpstr>Bias</vt:lpstr>
      <vt:lpstr>Bias</vt:lpstr>
      <vt:lpstr>Bias</vt:lpstr>
      <vt:lpstr>Bias we can handle</vt:lpstr>
      <vt:lpstr>Snoop Bias</vt:lpstr>
      <vt:lpstr>Scaling</vt:lpstr>
      <vt:lpstr>Scaling</vt:lpstr>
      <vt:lpstr>Feature engineering</vt:lpstr>
      <vt:lpstr>Feature engineering</vt:lpstr>
      <vt:lpstr>Summary</vt:lpstr>
    </vt:vector>
  </TitlesOfParts>
  <Company>Thomas More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creator>Christel Maes</dc:creator>
  <cp:lastModifiedBy>Jochen Mariën</cp:lastModifiedBy>
  <cp:revision>55</cp:revision>
  <dcterms:created xsi:type="dcterms:W3CDTF">2018-02-21T07:41:18Z</dcterms:created>
  <dcterms:modified xsi:type="dcterms:W3CDTF">2026-06-04T09:29:01Z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337be75-dfbb-4261-9834-ac247c7dde13_Enabled">
    <vt:lpwstr>true</vt:lpwstr>
  </property>
  <property fmtid="{D5CDD505-2E9C-101B-9397-08002B2CF9AE}" pid="3" name="MSIP_Label_c337be75-dfbb-4261-9834-ac247c7dde13_SetDate">
    <vt:lpwstr>2023-10-19T07:27:53Z</vt:lpwstr>
  </property>
  <property fmtid="{D5CDD505-2E9C-101B-9397-08002B2CF9AE}" pid="4" name="MSIP_Label_c337be75-dfbb-4261-9834-ac247c7dde13_Method">
    <vt:lpwstr>Standard</vt:lpwstr>
  </property>
  <property fmtid="{D5CDD505-2E9C-101B-9397-08002B2CF9AE}" pid="5" name="MSIP_Label_c337be75-dfbb-4261-9834-ac247c7dde13_Name">
    <vt:lpwstr>Algemeen</vt:lpwstr>
  </property>
  <property fmtid="{D5CDD505-2E9C-101B-9397-08002B2CF9AE}" pid="6" name="MSIP_Label_c337be75-dfbb-4261-9834-ac247c7dde13_SiteId">
    <vt:lpwstr>77d33cc5-c9b4-4766-95c7-ed5b515e1cce</vt:lpwstr>
  </property>
  <property fmtid="{D5CDD505-2E9C-101B-9397-08002B2CF9AE}" pid="7" name="MSIP_Label_c337be75-dfbb-4261-9834-ac247c7dde13_ActionId">
    <vt:lpwstr>b68bd113-e83d-4438-ae2a-7958df77ef75</vt:lpwstr>
  </property>
  <property fmtid="{D5CDD505-2E9C-101B-9397-08002B2CF9AE}" pid="8" name="MSIP_Label_c337be75-dfbb-4261-9834-ac247c7dde13_ContentBits">
    <vt:lpwstr>0</vt:lpwstr>
  </property>
</Properties>
</file>